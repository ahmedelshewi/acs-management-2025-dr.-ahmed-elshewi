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49e8aa9-3876-c19f-92fa-2b574dc11adb}">
          <p14:sldIdLst>
            <p14:sldId id="256"/>
            <p14:sldId id="257"/>
          </p14:sldIdLst>
        </p14:section>
        <p14:section name="Case 1: Classic STEMI" id="{2a59827b-8a21-05fe-c780-b74be0009126}">
          <p14:sldIdLst>
            <p14:sldId id="258"/>
            <p14:sldId id="259"/>
            <p14:sldId id="260"/>
            <p14:sldId id="261"/>
            <p14:sldId id="262"/>
          </p14:sldIdLst>
        </p14:section>
        <p14:section name="Case 2: NSTEMI in the elderly" id="{3bcf62fc-3697-219a-28b6-f55e003b92e9}">
          <p14:sldIdLst>
            <p14:sldId id="263"/>
            <p14:sldId id="264"/>
            <p14:sldId id="265"/>
            <p14:sldId id="266"/>
            <p14:sldId id="267"/>
          </p14:sldIdLst>
        </p14:section>
        <p14:section name="Case 3: Cocaine-induced MI" id="{1825aa63-5b42-a488-cece-37beefe660bf}">
          <p14:sldIdLst>
            <p14:sldId id="268"/>
            <p14:sldId id="269"/>
            <p14:sldId id="270"/>
            <p14:sldId id="271"/>
            <p14:sldId id="272"/>
          </p14:sldIdLst>
        </p14:section>
        <p14:section name="Case 4: Cardiogenic shock" id="{9373019d-70ce-599e-262b-6b84ff840820}">
          <p14:sldIdLst>
            <p14:sldId id="273"/>
            <p14:sldId id="274"/>
            <p14:sldId id="275"/>
            <p14:sldId id="276"/>
            <p14:sldId id="277"/>
          </p14:sldIdLst>
        </p14:section>
        <p14:section name="Case 5: Fibrinolysis decision" id="{a6661721-35b6-136b-7a71-132511037b82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Summary" id="{d30bc133-6fee-c485-d5b8-6d1d3b5237b0}">
          <p14:sldIdLst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emergency department cases covering STEMI, NSTEMI, cocaine-associated MI, cardiogenic shock and fibrinolysis.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five cases and the main lesson of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1. Read the one-line presentation and pause on the question before revealing the workup.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history, vitals (red tiles = abnormal) and the ECG before discussing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each step in order; ask the audience what they would give next and what they would avoid.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hospital course and connect each discharge medication to its indication.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take-home messages for this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2. Read the one-line presentation and pause on the question before revealing the workup.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history, vitals (red tiles = abnormal) and the ECG before discussing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each step in order; ask the audience what they would give next and what they would avoid.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hospital course and connect each discharge medication to its indication.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take-home messages for this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3. Read the one-line presentation and pause on the question before revealing the workup.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history, vitals (red tiles = abnormal) and the ECG before discussing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each step in order; ask the audience what they would give next and what they would avoid.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hospital course and connect each discharge medication to its indication.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take-home messages for this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4. Read the one-line presentation and pause on the question before revealing the workup.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history, vitals (red tiles = abnormal) and the ECG before discussing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each step in order; ask the audience what they would give next and what they would avoid.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hospital course and connect each discharge medication to its indication.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take-home messages for this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5. Read the one-line presentation and pause on the question before revealing the workup.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history, vitals (red tiles = abnormal) and the ECG before discussing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ACC/AHA rule: if first-medical-contact-to-device time is expected to exceed 120 minutes, give fibrinolysis within 30 minutes of arrival unless contraindicated.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source protocol listed a 5100 U heparin bolus; with fibrinolysis the UFH bolus is capped at 4000 U, so the slide shows the capped dose.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hospital course and connect each discharge medication to its indication.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take-home messages for this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table to recap differences in reperfusion strategy and antiplatelet choice across the five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four principles and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5C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Pr>
        <a:solidFill>
          <a:srgbClr val="5C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86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 in the ED · Real Cases · Dr. Ahmed Elshewi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Dark">
    <p:bg>
      <p:bgPr>
        <a:solidFill>
          <a:srgbClr val="5C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Acute Coronary Syndrome in the ED: Five Real Cases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Case-based review of ACC/AHA guideline management · Dr. Ahmed Elshewi</a:t>
            </a:r>
            <a:endParaRPr lang="en-US" sz="2000" dirty="0"/>
          </a:p>
        </p:txBody>
      </p:sp>
      <p:sp>
        <p:nvSpPr>
          <p:cNvPr id="4" name="title icon circle"/>
          <p:cNvSpPr/>
          <p:nvPr/>
        </p:nvSpPr>
        <p:spPr>
          <a:xfrm>
            <a:off x="731520" y="7315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itl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950976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cases, five lessons</a:t>
            </a:r>
            <a:endParaRPr lang="en-US" sz="3400" dirty="0"/>
          </a:p>
        </p:txBody>
      </p:sp>
      <p:sp>
        <p:nvSpPr>
          <p:cNvPr id="3" name="case 1"/>
          <p:cNvSpPr/>
          <p:nvPr/>
        </p:nvSpPr>
        <p:spPr>
          <a:xfrm>
            <a:off x="548640" y="1463040"/>
            <a:ext cx="2035454" cy="466344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4" name="case icon 1 circle"/>
          <p:cNvSpPr/>
          <p:nvPr/>
        </p:nvSpPr>
        <p:spPr>
          <a:xfrm>
            <a:off x="1154887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ase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2398" y="19348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743200"/>
            <a:ext cx="17611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063240"/>
            <a:ext cx="1761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STEMI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886200"/>
            <a:ext cx="1761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62-year-old man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846320"/>
            <a:ext cx="17611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the right-sided ECG</a:t>
            </a:r>
            <a:endParaRPr lang="en-US" sz="1600" dirty="0"/>
          </a:p>
        </p:txBody>
      </p:sp>
      <p:sp>
        <p:nvSpPr>
          <p:cNvPr id="10" name="case 2"/>
          <p:cNvSpPr/>
          <p:nvPr/>
        </p:nvSpPr>
        <p:spPr>
          <a:xfrm>
            <a:off x="2812694" y="1463040"/>
            <a:ext cx="2035454" cy="466344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11" name="case icon 2 circle"/>
          <p:cNvSpPr/>
          <p:nvPr/>
        </p:nvSpPr>
        <p:spPr>
          <a:xfrm>
            <a:off x="3418942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case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452" y="193487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49854" y="2743200"/>
            <a:ext cx="17611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949854" y="3063240"/>
            <a:ext cx="1761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NSTEMI in the elderly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2949854" y="3886200"/>
            <a:ext cx="1761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78-year-old woman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2949854" y="4846320"/>
            <a:ext cx="17611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Atypical symptoms, dose adjustment</a:t>
            </a:r>
            <a:endParaRPr lang="en-US" sz="1600" dirty="0"/>
          </a:p>
        </p:txBody>
      </p:sp>
      <p:sp>
        <p:nvSpPr>
          <p:cNvPr id="17" name="case 3"/>
          <p:cNvSpPr/>
          <p:nvPr/>
        </p:nvSpPr>
        <p:spPr>
          <a:xfrm>
            <a:off x="5076749" y="1463040"/>
            <a:ext cx="2035454" cy="466344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18" name="case icon 3 circle"/>
          <p:cNvSpPr/>
          <p:nvPr/>
        </p:nvSpPr>
        <p:spPr>
          <a:xfrm>
            <a:off x="5682996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case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506" y="1934870"/>
            <a:ext cx="427939" cy="42793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13909" y="2743200"/>
            <a:ext cx="17611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213909" y="3063240"/>
            <a:ext cx="1761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Cocaine-induced MI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5213909" y="3886200"/>
            <a:ext cx="1761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35-year-old man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5213909" y="4846320"/>
            <a:ext cx="17611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Benzos first, no beta-blocker</a:t>
            </a:r>
            <a:endParaRPr lang="en-US" sz="1600" dirty="0"/>
          </a:p>
        </p:txBody>
      </p:sp>
      <p:sp>
        <p:nvSpPr>
          <p:cNvPr id="24" name="case 4"/>
          <p:cNvSpPr/>
          <p:nvPr/>
        </p:nvSpPr>
        <p:spPr>
          <a:xfrm>
            <a:off x="7340803" y="1463040"/>
            <a:ext cx="2035454" cy="466344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25" name="case icon 4 circle"/>
          <p:cNvSpPr/>
          <p:nvPr/>
        </p:nvSpPr>
        <p:spPr>
          <a:xfrm>
            <a:off x="7947050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case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4561" y="1934870"/>
            <a:ext cx="427939" cy="427939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477963" y="2743200"/>
            <a:ext cx="17611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4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7477963" y="3063240"/>
            <a:ext cx="1761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Cardiogenic shock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7477963" y="3886200"/>
            <a:ext cx="1761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71-year-old man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7477963" y="4846320"/>
            <a:ext cx="17611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Pressors, airway, emergency PCI</a:t>
            </a:r>
            <a:endParaRPr lang="en-US" sz="1600" dirty="0"/>
          </a:p>
        </p:txBody>
      </p:sp>
      <p:sp>
        <p:nvSpPr>
          <p:cNvPr id="31" name="case 5"/>
          <p:cNvSpPr/>
          <p:nvPr/>
        </p:nvSpPr>
        <p:spPr>
          <a:xfrm>
            <a:off x="9604858" y="1463040"/>
            <a:ext cx="2035454" cy="466344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32" name="case icon 5 circle"/>
          <p:cNvSpPr/>
          <p:nvPr/>
        </p:nvSpPr>
        <p:spPr>
          <a:xfrm>
            <a:off x="10211105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case icon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8615" y="1934870"/>
            <a:ext cx="427939" cy="427939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742018" y="2743200"/>
            <a:ext cx="17611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5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742018" y="3063240"/>
            <a:ext cx="1761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Fibrinolysis decision</a:t>
            </a:r>
            <a:endParaRPr lang="en-US" sz="1800" dirty="0"/>
          </a:p>
        </p:txBody>
      </p:sp>
      <p:sp>
        <p:nvSpPr>
          <p:cNvPr id="36" name="Text 29"/>
          <p:cNvSpPr txBox="1"/>
          <p:nvPr/>
        </p:nvSpPr>
        <p:spPr>
          <a:xfrm>
            <a:off x="9742018" y="3886200"/>
            <a:ext cx="1761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55-year-old man</a:t>
            </a:r>
            <a:endParaRPr lang="en-US" sz="1600" dirty="0"/>
          </a:p>
        </p:txBody>
      </p:sp>
      <p:sp>
        <p:nvSpPr>
          <p:cNvPr id="37" name="Text 30"/>
          <p:cNvSpPr txBox="1"/>
          <p:nvPr/>
        </p:nvSpPr>
        <p:spPr>
          <a:xfrm>
            <a:off x="9742018" y="4846320"/>
            <a:ext cx="17611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vs lysis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number"/>
          <p:cNvSpPr txBox="1"/>
          <p:nvPr/>
        </p:nvSpPr>
        <p:spPr>
          <a:xfrm>
            <a:off x="731520" y="8229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inferior STEMI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86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62-year-old man · crushing chest pain to the left arm for 45 minutes</a:t>
            </a:r>
            <a:endParaRPr lang="en-US" sz="2000" dirty="0"/>
          </a:p>
        </p:txBody>
      </p:sp>
      <p:sp>
        <p:nvSpPr>
          <p:cNvPr id="5" name="question band"/>
          <p:cNvSpPr/>
          <p:nvPr/>
        </p:nvSpPr>
        <p:spPr>
          <a:xfrm>
            <a:off x="731520" y="5074920"/>
            <a:ext cx="1069848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/>
        </p:spPr>
      </p:sp>
      <p:sp>
        <p:nvSpPr>
          <p:cNvPr id="6" name="question icon circle"/>
          <p:cNvSpPr/>
          <p:nvPr/>
        </p:nvSpPr>
        <p:spPr>
          <a:xfrm>
            <a:off x="914400" y="523036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ques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5362042"/>
            <a:ext cx="285293" cy="285293"/>
          </a:xfrm>
          <a:prstGeom prst="rect">
            <a:avLst/>
          </a:prstGeom>
        </p:spPr>
      </p:pic>
      <p:sp>
        <p:nvSpPr>
          <p:cNvPr id="8" name="discussion question"/>
          <p:cNvSpPr txBox="1"/>
          <p:nvPr/>
        </p:nvSpPr>
        <p:spPr>
          <a:xfrm>
            <a:off x="1645920" y="50749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at 5 minutes shows inferior ST elevation. What are your next five minutes?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1 · Presentation</a:t>
            </a:r>
            <a:endParaRPr lang="en-US" sz="3400" dirty="0"/>
          </a:p>
        </p:txBody>
      </p:sp>
      <p:sp>
        <p:nvSpPr>
          <p:cNvPr id="3" name="patient card"/>
          <p:cNvSpPr/>
          <p:nvPr/>
        </p:nvSpPr>
        <p:spPr>
          <a:xfrm>
            <a:off x="548640" y="1371600"/>
            <a:ext cx="566928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/>
        </p:spPr>
      </p:sp>
      <p:sp>
        <p:nvSpPr>
          <p:cNvPr id="4" name="patient icon circle"/>
          <p:cNvSpPr/>
          <p:nvPr/>
        </p:nvSpPr>
        <p:spPr>
          <a:xfrm>
            <a:off x="777240" y="157276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atien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704442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727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62-year-old male</a:t>
            </a:r>
            <a:endParaRPr lang="en-US" sz="2000" dirty="0"/>
          </a:p>
        </p:txBody>
      </p:sp>
      <p:sp>
        <p:nvSpPr>
          <p:cNvPr id="7" name="history"/>
          <p:cNvSpPr txBox="1"/>
          <p:nvPr/>
        </p:nvSpPr>
        <p:spPr>
          <a:xfrm>
            <a:off x="777240" y="2286000"/>
            <a:ext cx="52120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“Crushing chest pain, like an elephant sitting on my chest”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HPI: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Began 45 min ago while mowing the lawn; radiates to left arm and jaw; diaphoresis and nausea; no relief with rest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PMH: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Hypertension, type 2 diabetes, active smoker (30 pack-years)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Metformin, lisinopril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1371600"/>
            <a:ext cx="5148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signs</a:t>
            </a:r>
            <a:endParaRPr lang="en-US" sz="1600" dirty="0"/>
          </a:p>
        </p:txBody>
      </p:sp>
      <p:sp>
        <p:nvSpPr>
          <p:cNvPr id="9" name="vital HR"/>
          <p:cNvSpPr/>
          <p:nvPr/>
        </p:nvSpPr>
        <p:spPr>
          <a:xfrm>
            <a:off x="6492240" y="1783080"/>
            <a:ext cx="1624584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629400" y="1856232"/>
            <a:ext cx="1350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· bpm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148840"/>
            <a:ext cx="1350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400" dirty="0"/>
          </a:p>
        </p:txBody>
      </p:sp>
      <p:sp>
        <p:nvSpPr>
          <p:cNvPr id="12" name="vital BP"/>
          <p:cNvSpPr/>
          <p:nvPr/>
        </p:nvSpPr>
        <p:spPr>
          <a:xfrm>
            <a:off x="8253984" y="1783080"/>
            <a:ext cx="1624584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391144" y="1856232"/>
            <a:ext cx="1350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· mmHg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391144" y="2148840"/>
            <a:ext cx="1350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168/92</a:t>
            </a:r>
            <a:endParaRPr lang="en-US" sz="1400" dirty="0"/>
          </a:p>
        </p:txBody>
      </p:sp>
      <p:sp>
        <p:nvSpPr>
          <p:cNvPr id="15" name="vital RR"/>
          <p:cNvSpPr/>
          <p:nvPr/>
        </p:nvSpPr>
        <p:spPr>
          <a:xfrm>
            <a:off x="10015728" y="1783080"/>
            <a:ext cx="1624584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152888" y="1856232"/>
            <a:ext cx="1350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· /min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152888" y="2148840"/>
            <a:ext cx="1350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18" name="vital SpO₂"/>
          <p:cNvSpPr/>
          <p:nvPr/>
        </p:nvSpPr>
        <p:spPr>
          <a:xfrm>
            <a:off x="6492240" y="2788920"/>
            <a:ext cx="1624584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29400" y="2862072"/>
            <a:ext cx="1350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SpO₂ · RA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629400" y="3154680"/>
            <a:ext cx="1350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400" dirty="0"/>
          </a:p>
        </p:txBody>
      </p:sp>
      <p:sp>
        <p:nvSpPr>
          <p:cNvPr id="21" name="vital Temp"/>
          <p:cNvSpPr/>
          <p:nvPr/>
        </p:nvSpPr>
        <p:spPr>
          <a:xfrm>
            <a:off x="8253984" y="2788920"/>
            <a:ext cx="1624584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391144" y="2862072"/>
            <a:ext cx="1350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· °C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391144" y="3154680"/>
            <a:ext cx="1350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37.1</a:t>
            </a:r>
            <a:endParaRPr lang="en-US" sz="1400" dirty="0"/>
          </a:p>
        </p:txBody>
      </p:sp>
      <p:sp>
        <p:nvSpPr>
          <p:cNvPr id="24" name="ecg card"/>
          <p:cNvSpPr/>
          <p:nvPr/>
        </p:nvSpPr>
        <p:spPr>
          <a:xfrm>
            <a:off x="6492240" y="3886200"/>
            <a:ext cx="5148072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25" name="ecg icon circle"/>
          <p:cNvSpPr/>
          <p:nvPr/>
        </p:nvSpPr>
        <p:spPr>
          <a:xfrm>
            <a:off x="6675120" y="4069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ec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178808"/>
            <a:ext cx="237744" cy="237744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26948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</a:t>
            </a:r>
            <a:endParaRPr lang="en-US" sz="1600" dirty="0"/>
          </a:p>
        </p:txBody>
      </p:sp>
      <p:sp>
        <p:nvSpPr>
          <p:cNvPr id="28" name="ecg findings"/>
          <p:cNvSpPr txBox="1"/>
          <p:nvPr/>
        </p:nvSpPr>
        <p:spPr>
          <a:xfrm>
            <a:off x="6675120" y="4663440"/>
            <a:ext cx="4782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 tachycardia. 3–4 mm ST elevation in II, III, aVF with reciprocal ST depression in I and aVL. Q waves in III.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inferior STEMI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1 · First 5 minutes after the ECG</a:t>
            </a:r>
            <a:endParaRPr lang="en-US" sz="3400" dirty="0"/>
          </a:p>
        </p:txBody>
      </p:sp>
      <p:sp>
        <p:nvSpPr>
          <p:cNvPr id="3" name="timeline axis"/>
          <p:cNvSpPr/>
          <p:nvPr/>
        </p:nvSpPr>
        <p:spPr>
          <a:xfrm>
            <a:off x="1115568" y="1609344"/>
            <a:ext cx="0" cy="3886200"/>
          </a:xfrm>
          <a:prstGeom prst="line">
            <a:avLst/>
          </a:prstGeom>
          <a:noFill/>
          <a:ln w="25400">
            <a:solidFill>
              <a:srgbClr val="FBE3E7"/>
            </a:solidFill>
            <a:prstDash val="solid"/>
          </a:ln>
        </p:spPr>
      </p:sp>
      <p:sp>
        <p:nvSpPr>
          <p:cNvPr id="4" name="time badge 1"/>
          <p:cNvSpPr/>
          <p:nvPr/>
        </p:nvSpPr>
        <p:spPr>
          <a:xfrm>
            <a:off x="548640" y="141732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07:05</a:t>
            </a:r>
            <a:endParaRPr lang="en-US" sz="1200" dirty="0"/>
          </a:p>
        </p:txBody>
      </p:sp>
      <p:sp>
        <p:nvSpPr>
          <p:cNvPr id="6" name="step 1"/>
          <p:cNvSpPr txBox="1"/>
          <p:nvPr/>
        </p:nvSpPr>
        <p:spPr>
          <a:xfrm>
            <a:off x="1874520" y="1399032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STEMI alert activated; cath lab called</a:t>
            </a:r>
            <a:endParaRPr lang="en-US" sz="1500" dirty="0"/>
          </a:p>
        </p:txBody>
      </p:sp>
      <p:sp>
        <p:nvSpPr>
          <p:cNvPr id="7" name="time badge 2"/>
          <p:cNvSpPr/>
          <p:nvPr/>
        </p:nvSpPr>
        <p:spPr>
          <a:xfrm>
            <a:off x="548640" y="219456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945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07:06</a:t>
            </a:r>
            <a:endParaRPr lang="en-US" sz="1200" dirty="0"/>
          </a:p>
        </p:txBody>
      </p:sp>
      <p:sp>
        <p:nvSpPr>
          <p:cNvPr id="9" name="step 2"/>
          <p:cNvSpPr txBox="1"/>
          <p:nvPr/>
        </p:nvSpPr>
        <p:spPr>
          <a:xfrm>
            <a:off x="1874520" y="2176272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 325 mg chewed + ticagrelor 180 mg PO</a:t>
            </a:r>
            <a:endParaRPr lang="en-US" sz="1500" dirty="0"/>
          </a:p>
        </p:txBody>
      </p:sp>
      <p:sp>
        <p:nvSpPr>
          <p:cNvPr id="10" name="time badge 3"/>
          <p:cNvSpPr/>
          <p:nvPr/>
        </p:nvSpPr>
        <p:spPr>
          <a:xfrm>
            <a:off x="548640" y="297180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9718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07:07</a:t>
            </a:r>
            <a:endParaRPr lang="en-US" sz="1200" dirty="0"/>
          </a:p>
        </p:txBody>
      </p:sp>
      <p:sp>
        <p:nvSpPr>
          <p:cNvPr id="12" name="step 3"/>
          <p:cNvSpPr txBox="1"/>
          <p:nvPr/>
        </p:nvSpPr>
        <p:spPr>
          <a:xfrm>
            <a:off x="1874520" y="2953512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 5000 U IV bolus (~60 U/kg for 80 kg), then 1000 U/h</a:t>
            </a:r>
            <a:endParaRPr lang="en-US" sz="1500" dirty="0"/>
          </a:p>
        </p:txBody>
      </p:sp>
      <p:sp>
        <p:nvSpPr>
          <p:cNvPr id="13" name="time badge 4"/>
          <p:cNvSpPr/>
          <p:nvPr/>
        </p:nvSpPr>
        <p:spPr>
          <a:xfrm>
            <a:off x="548640" y="374904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7490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07:08</a:t>
            </a:r>
            <a:endParaRPr lang="en-US" sz="1200" dirty="0"/>
          </a:p>
        </p:txBody>
      </p:sp>
      <p:sp>
        <p:nvSpPr>
          <p:cNvPr id="15" name="step 4"/>
          <p:cNvSpPr txBox="1"/>
          <p:nvPr/>
        </p:nvSpPr>
        <p:spPr>
          <a:xfrm>
            <a:off x="1874520" y="3730752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Nitroglycerin 0.4 mg SL (BP allows)</a:t>
            </a:r>
            <a:endParaRPr lang="en-US" sz="1500" dirty="0"/>
          </a:p>
        </p:txBody>
      </p:sp>
      <p:sp>
        <p:nvSpPr>
          <p:cNvPr id="16" name="time badge 5"/>
          <p:cNvSpPr/>
          <p:nvPr/>
        </p:nvSpPr>
        <p:spPr>
          <a:xfrm>
            <a:off x="548640" y="452628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262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07:10</a:t>
            </a:r>
            <a:endParaRPr lang="en-US" sz="1200" dirty="0"/>
          </a:p>
        </p:txBody>
      </p:sp>
      <p:sp>
        <p:nvSpPr>
          <p:cNvPr id="18" name="step 5"/>
          <p:cNvSpPr txBox="1"/>
          <p:nvPr/>
        </p:nvSpPr>
        <p:spPr>
          <a:xfrm>
            <a:off x="1874520" y="4507992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Right-sided ECG (V4R) to exclude RV infarct: negative</a:t>
            </a:r>
            <a:endParaRPr lang="en-US" sz="1500" dirty="0"/>
          </a:p>
        </p:txBody>
      </p:sp>
      <p:sp>
        <p:nvSpPr>
          <p:cNvPr id="19" name="time badge 6"/>
          <p:cNvSpPr/>
          <p:nvPr/>
        </p:nvSpPr>
        <p:spPr>
          <a:xfrm>
            <a:off x="548640" y="530352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3035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07:10</a:t>
            </a:r>
            <a:endParaRPr lang="en-US" sz="1200" dirty="0"/>
          </a:p>
        </p:txBody>
      </p:sp>
      <p:sp>
        <p:nvSpPr>
          <p:cNvPr id="21" name="step 6"/>
          <p:cNvSpPr txBox="1"/>
          <p:nvPr/>
        </p:nvSpPr>
        <p:spPr>
          <a:xfrm>
            <a:off x="1874520" y="5285232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Labs: troponin I 0.8 ng/mL (elevated), BMP, CBC, lipids</a:t>
            </a:r>
            <a:endParaRPr lang="en-US" sz="1500" dirty="0"/>
          </a:p>
        </p:txBody>
      </p:sp>
      <p:sp>
        <p:nvSpPr>
          <p:cNvPr id="22" name="Before nitrates"/>
          <p:cNvSpPr/>
          <p:nvPr/>
        </p:nvSpPr>
        <p:spPr>
          <a:xfrm>
            <a:off x="7726680" y="1417320"/>
            <a:ext cx="3913632" cy="2286000"/>
          </a:xfrm>
          <a:prstGeom prst="roundRect">
            <a:avLst>
              <a:gd name="adj" fmla="val 4800"/>
            </a:avLst>
          </a:prstGeom>
          <a:solidFill>
            <a:schemeClr val="accent6"/>
          </a:solidFill>
          <a:ln/>
        </p:spPr>
      </p:sp>
      <p:sp>
        <p:nvSpPr>
          <p:cNvPr id="23" name="Before nitrates icon circle"/>
          <p:cNvSpPr/>
          <p:nvPr/>
        </p:nvSpPr>
        <p:spPr>
          <a:xfrm>
            <a:off x="7909560" y="158191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Before nitrat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8315" y="1680667"/>
            <a:ext cx="213970" cy="21397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458200" y="1581912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nitrates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909560" y="2103120"/>
            <a:ext cx="35478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Inferior STEMI: rule out RV infarct (V4R, JVD, clear lungs)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PDE-5 inhibitor in last 24–48 h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 must be &gt; 90 mmHg</a:t>
            </a:r>
            <a:endParaRPr lang="en-US" sz="1400" dirty="0"/>
          </a:p>
        </p:txBody>
      </p:sp>
      <p:sp>
        <p:nvSpPr>
          <p:cNvPr id="27" name="Targets"/>
          <p:cNvSpPr/>
          <p:nvPr/>
        </p:nvSpPr>
        <p:spPr>
          <a:xfrm>
            <a:off x="7726680" y="3931920"/>
            <a:ext cx="3913632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8" name="Targets icon circle"/>
          <p:cNvSpPr/>
          <p:nvPr/>
        </p:nvSpPr>
        <p:spPr>
          <a:xfrm>
            <a:off x="7909560" y="4096512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Target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315" y="4195267"/>
            <a:ext cx="213970" cy="21397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8458200" y="4096512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7909560" y="4617720"/>
            <a:ext cx="35478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Door-to-ECG ≤ 10 min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Door-to-balloon &lt; 90 min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access preferred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1 · Cath lab and discharge</a:t>
            </a:r>
            <a:endParaRPr lang="en-US" sz="3400" dirty="0"/>
          </a:p>
        </p:txBody>
      </p:sp>
      <p:sp>
        <p:nvSpPr>
          <p:cNvPr id="3" name="stat Door-to-ECG"/>
          <p:cNvSpPr/>
          <p:nvPr/>
        </p:nvSpPr>
        <p:spPr>
          <a:xfrm>
            <a:off x="548640" y="1371600"/>
            <a:ext cx="351434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Door-to-ECG</a:t>
            </a:r>
            <a:endParaRPr lang="en-US" sz="1300" dirty="0"/>
          </a:p>
        </p:txBody>
      </p:sp>
      <p:sp>
        <p:nvSpPr>
          <p:cNvPr id="6" name="stat Door-to-balloon (goal &lt; 90)"/>
          <p:cNvSpPr/>
          <p:nvPr/>
        </p:nvSpPr>
        <p:spPr>
          <a:xfrm>
            <a:off x="4337304" y="1371600"/>
            <a:ext cx="351434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65904" y="146304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65904" y="2194560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Door-to-balloon (goal &lt; 90)</a:t>
            </a:r>
            <a:endParaRPr lang="en-US" sz="1300" dirty="0"/>
          </a:p>
        </p:txBody>
      </p:sp>
      <p:sp>
        <p:nvSpPr>
          <p:cNvPr id="9" name="stat LVEF on echo"/>
          <p:cNvSpPr/>
          <p:nvPr/>
        </p:nvSpPr>
        <p:spPr>
          <a:xfrm>
            <a:off x="8125968" y="1371600"/>
            <a:ext cx="351434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54568" y="146304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354568" y="2194560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LVEF on echo</a:t>
            </a:r>
            <a:endParaRPr lang="en-US" sz="1300" dirty="0"/>
          </a:p>
        </p:txBody>
      </p:sp>
      <p:sp>
        <p:nvSpPr>
          <p:cNvPr id="12" name="Angiography &amp; PCI"/>
          <p:cNvSpPr/>
          <p:nvPr/>
        </p:nvSpPr>
        <p:spPr>
          <a:xfrm>
            <a:off x="548640" y="2971800"/>
            <a:ext cx="5408676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13" name="Angiography &amp; PCI icon circle"/>
          <p:cNvSpPr/>
          <p:nvPr/>
        </p:nvSpPr>
        <p:spPr>
          <a:xfrm>
            <a:off x="777240" y="31546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Angiography &amp; PCI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3264408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371600" y="3154680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Angiography &amp; PCI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749040"/>
            <a:ext cx="49514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Culprit: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occlusion of proximal RCA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 40% stenosis; LCx mild disease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to RCA via right radial; TIMI 3 flow restored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 resolved; ST segments normalising</a:t>
            </a:r>
            <a:endParaRPr lang="en-US" sz="1400" dirty="0"/>
          </a:p>
        </p:txBody>
      </p:sp>
      <p:sp>
        <p:nvSpPr>
          <p:cNvPr id="17" name="Discharge (day 3)"/>
          <p:cNvSpPr/>
          <p:nvPr/>
        </p:nvSpPr>
        <p:spPr>
          <a:xfrm>
            <a:off x="6231636" y="2971800"/>
            <a:ext cx="5408676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/>
        </p:spPr>
      </p:sp>
      <p:sp>
        <p:nvSpPr>
          <p:cNvPr id="18" name="Discharge (day 3) outline"/>
          <p:cNvSpPr/>
          <p:nvPr/>
        </p:nvSpPr>
        <p:spPr>
          <a:xfrm>
            <a:off x="6231636" y="2971800"/>
            <a:ext cx="5408676" cy="3246120"/>
          </a:xfrm>
          <a:prstGeom prst="roundRect">
            <a:avLst>
              <a:gd name="adj" fmla="val 3380"/>
            </a:avLst>
          </a:prstGeom>
          <a:ln w="19050">
            <a:solidFill>
              <a:srgbClr val="F3F4F7"/>
            </a:solidFill>
            <a:prstDash val="solid"/>
          </a:ln>
        </p:spPr>
      </p:sp>
      <p:sp>
        <p:nvSpPr>
          <p:cNvPr id="19" name="Discharge (day 3) icon circle"/>
          <p:cNvSpPr/>
          <p:nvPr/>
        </p:nvSpPr>
        <p:spPr>
          <a:xfrm>
            <a:off x="6460236" y="31546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Discharge (day 3)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964" y="3264408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054596" y="3154680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(day 3)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6460236" y="3749040"/>
            <a:ext cx="49514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 81 mg daily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Ticagrelor 90 mg BID × 12 months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Atorvastatin 80 mg daily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Metoprolol succinate 50 mg daily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Lisinopril 10 mg daily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Empagliflozin 10 mg daily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1 · Key teaching points</a:t>
            </a:r>
            <a:endParaRPr lang="en-US" sz="3400" dirty="0"/>
          </a:p>
        </p:txBody>
      </p:sp>
      <p:sp>
        <p:nvSpPr>
          <p:cNvPr id="3" name="point 1"/>
          <p:cNvSpPr/>
          <p:nvPr/>
        </p:nvSpPr>
        <p:spPr>
          <a:xfrm>
            <a:off x="548640" y="1371600"/>
            <a:ext cx="5408676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4" name="point icon 1 circle"/>
          <p:cNvSpPr/>
          <p:nvPr/>
        </p:nvSpPr>
        <p:spPr>
          <a:xfrm>
            <a:off x="749808" y="15727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point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82496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536192"/>
            <a:ext cx="44485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ECG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240280"/>
            <a:ext cx="50063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within 10 minutes of arrival; here it was done at 5 minutes.</a:t>
            </a:r>
            <a:endParaRPr lang="en-US" sz="1800" dirty="0"/>
          </a:p>
        </p:txBody>
      </p:sp>
      <p:sp>
        <p:nvSpPr>
          <p:cNvPr id="8" name="point 2"/>
          <p:cNvSpPr/>
          <p:nvPr/>
        </p:nvSpPr>
        <p:spPr>
          <a:xfrm>
            <a:off x="6231636" y="1371600"/>
            <a:ext cx="5408676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9" name="point icon 2 circle"/>
          <p:cNvSpPr/>
          <p:nvPr/>
        </p:nvSpPr>
        <p:spPr>
          <a:xfrm>
            <a:off x="6432804" y="15727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point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532" y="168249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08876" y="1536192"/>
            <a:ext cx="44485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muscle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32804" y="2240280"/>
            <a:ext cx="50063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Door-to-balloon of 30 minutes, well inside the 90-minute target.</a:t>
            </a:r>
            <a:endParaRPr lang="en-US" sz="1800" dirty="0"/>
          </a:p>
        </p:txBody>
      </p:sp>
      <p:sp>
        <p:nvSpPr>
          <p:cNvPr id="13" name="point 3"/>
          <p:cNvSpPr/>
          <p:nvPr/>
        </p:nvSpPr>
        <p:spPr>
          <a:xfrm>
            <a:off x="548640" y="3931920"/>
            <a:ext cx="5408676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4" name="point icon 3 circle"/>
          <p:cNvSpPr/>
          <p:nvPr/>
        </p:nvSpPr>
        <p:spPr>
          <a:xfrm>
            <a:off x="749808" y="413308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point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24281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4096512"/>
            <a:ext cx="44485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Right-sided ECG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49808" y="4800600"/>
            <a:ext cx="50063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inferior STEMI needs V4R to exclude RV involvement before nitrates.</a:t>
            </a:r>
            <a:endParaRPr lang="en-US" sz="1800" dirty="0"/>
          </a:p>
        </p:txBody>
      </p:sp>
      <p:sp>
        <p:nvSpPr>
          <p:cNvPr id="18" name="point 4"/>
          <p:cNvSpPr/>
          <p:nvPr/>
        </p:nvSpPr>
        <p:spPr>
          <a:xfrm>
            <a:off x="6231636" y="3931920"/>
            <a:ext cx="5408676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9" name="point icon 4 circle"/>
          <p:cNvSpPr/>
          <p:nvPr/>
        </p:nvSpPr>
        <p:spPr>
          <a:xfrm>
            <a:off x="6432804" y="413308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point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532" y="424281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08876" y="4096512"/>
            <a:ext cx="44485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secondary prevention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32804" y="4800600"/>
            <a:ext cx="50063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DAPT + high-intensity statin + beta-blocker + ACE-I, plus smoking-cessation counselling.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number"/>
          <p:cNvSpPr txBox="1"/>
          <p:nvPr/>
        </p:nvSpPr>
        <p:spPr>
          <a:xfrm>
            <a:off x="731520" y="8229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NSTEMI in an elderly woman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86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78-year-old woman · dyspnoea and “indigestion” for 3 hours</a:t>
            </a:r>
            <a:endParaRPr lang="en-US" sz="2000" dirty="0"/>
          </a:p>
        </p:txBody>
      </p:sp>
      <p:sp>
        <p:nvSpPr>
          <p:cNvPr id="5" name="question band"/>
          <p:cNvSpPr/>
          <p:nvPr/>
        </p:nvSpPr>
        <p:spPr>
          <a:xfrm>
            <a:off x="731520" y="5074920"/>
            <a:ext cx="1069848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/>
        </p:spPr>
      </p:sp>
      <p:sp>
        <p:nvSpPr>
          <p:cNvPr id="6" name="question icon circle"/>
          <p:cNvSpPr/>
          <p:nvPr/>
        </p:nvSpPr>
        <p:spPr>
          <a:xfrm>
            <a:off x="914400" y="523036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ques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5362042"/>
            <a:ext cx="285293" cy="285293"/>
          </a:xfrm>
          <a:prstGeom prst="rect">
            <a:avLst/>
          </a:prstGeom>
        </p:spPr>
      </p:pic>
      <p:sp>
        <p:nvSpPr>
          <p:cNvPr id="8" name="discussion question"/>
          <p:cNvSpPr txBox="1"/>
          <p:nvPr/>
        </p:nvSpPr>
        <p:spPr>
          <a:xfrm>
            <a:off x="1645920" y="50749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chest pain, SBP 96, eGFR 28, prior stroke. Which antiplatelet, which anticoagulant, and how fast to the cath lab?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2 · Presentation</a:t>
            </a:r>
            <a:endParaRPr lang="en-US" sz="3400" dirty="0"/>
          </a:p>
        </p:txBody>
      </p:sp>
      <p:sp>
        <p:nvSpPr>
          <p:cNvPr id="3" name="patient card"/>
          <p:cNvSpPr/>
          <p:nvPr/>
        </p:nvSpPr>
        <p:spPr>
          <a:xfrm>
            <a:off x="548640" y="1371600"/>
            <a:ext cx="566928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/>
        </p:spPr>
      </p:sp>
      <p:sp>
        <p:nvSpPr>
          <p:cNvPr id="4" name="patient icon circle"/>
          <p:cNvSpPr/>
          <p:nvPr/>
        </p:nvSpPr>
        <p:spPr>
          <a:xfrm>
            <a:off x="777240" y="157276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atien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704442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727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78-year-old female</a:t>
            </a:r>
            <a:endParaRPr lang="en-US" sz="2000" dirty="0"/>
          </a:p>
        </p:txBody>
      </p:sp>
      <p:sp>
        <p:nvSpPr>
          <p:cNvPr id="7" name="history"/>
          <p:cNvSpPr txBox="1"/>
          <p:nvPr/>
        </p:nvSpPr>
        <p:spPr>
          <a:xfrm>
            <a:off x="777240" y="2286000"/>
            <a:ext cx="52120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“Trouble breathing and my stomach hurts”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HPI: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Woke at 3 AM with dyspnoea and epigastric discomfort; no classic chest pain; generalised weakness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PMH: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DM, HTN, CKD stage 3 (baseline Cr 1.8), prior stroke 2 years ago without deficits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Metformin, amlodipine, aspirin 81 mg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1371600"/>
            <a:ext cx="5148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signs</a:t>
            </a:r>
            <a:endParaRPr lang="en-US" sz="1600" dirty="0"/>
          </a:p>
        </p:txBody>
      </p:sp>
      <p:sp>
        <p:nvSpPr>
          <p:cNvPr id="9" name="vital HR"/>
          <p:cNvSpPr/>
          <p:nvPr/>
        </p:nvSpPr>
        <p:spPr>
          <a:xfrm>
            <a:off x="6492240" y="1783080"/>
            <a:ext cx="1624584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629400" y="1856232"/>
            <a:ext cx="1350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· bpm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148840"/>
            <a:ext cx="1350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400" dirty="0"/>
          </a:p>
        </p:txBody>
      </p:sp>
      <p:sp>
        <p:nvSpPr>
          <p:cNvPr id="12" name="vital BP"/>
          <p:cNvSpPr/>
          <p:nvPr/>
        </p:nvSpPr>
        <p:spPr>
          <a:xfrm>
            <a:off x="8253984" y="1783080"/>
            <a:ext cx="1624584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391144" y="1856232"/>
            <a:ext cx="1350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· mmHg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391144" y="2148840"/>
            <a:ext cx="1350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96/62</a:t>
            </a:r>
            <a:endParaRPr lang="en-US" sz="1400" dirty="0"/>
          </a:p>
        </p:txBody>
      </p:sp>
      <p:sp>
        <p:nvSpPr>
          <p:cNvPr id="15" name="vital RR"/>
          <p:cNvSpPr/>
          <p:nvPr/>
        </p:nvSpPr>
        <p:spPr>
          <a:xfrm>
            <a:off x="10015728" y="1783080"/>
            <a:ext cx="1624584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152888" y="1856232"/>
            <a:ext cx="1350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· /min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152888" y="2148840"/>
            <a:ext cx="1350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400" dirty="0"/>
          </a:p>
        </p:txBody>
      </p:sp>
      <p:sp>
        <p:nvSpPr>
          <p:cNvPr id="18" name="vital SpO₂"/>
          <p:cNvSpPr/>
          <p:nvPr/>
        </p:nvSpPr>
        <p:spPr>
          <a:xfrm>
            <a:off x="6492240" y="2788920"/>
            <a:ext cx="1624584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29400" y="2862072"/>
            <a:ext cx="1350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SpO₂ · RA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629400" y="3154680"/>
            <a:ext cx="1350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1400" dirty="0"/>
          </a:p>
        </p:txBody>
      </p:sp>
      <p:sp>
        <p:nvSpPr>
          <p:cNvPr id="21" name="ecg card"/>
          <p:cNvSpPr/>
          <p:nvPr/>
        </p:nvSpPr>
        <p:spPr>
          <a:xfrm>
            <a:off x="6492240" y="3886200"/>
            <a:ext cx="5148072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22" name="ecg icon circle"/>
          <p:cNvSpPr/>
          <p:nvPr/>
        </p:nvSpPr>
        <p:spPr>
          <a:xfrm>
            <a:off x="6675120" y="4069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ec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178808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26948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</a:t>
            </a:r>
            <a:endParaRPr lang="en-US" sz="1600" dirty="0"/>
          </a:p>
        </p:txBody>
      </p:sp>
      <p:sp>
        <p:nvSpPr>
          <p:cNvPr id="25" name="ecg findings"/>
          <p:cNvSpPr txBox="1"/>
          <p:nvPr/>
        </p:nvSpPr>
        <p:spPr>
          <a:xfrm>
            <a:off x="6675120" y="4663440"/>
            <a:ext cx="4782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 rhythm. 1–2 mm ST depression in V4–V6, I, aVL. T-wave inversion in V2–V4.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coronary syndrome, likely NSTEMI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2 · Very high-risk NSTEMI</a:t>
            </a:r>
            <a:endParaRPr lang="en-US" sz="3400" dirty="0"/>
          </a:p>
        </p:txBody>
      </p:sp>
      <p:sp>
        <p:nvSpPr>
          <p:cNvPr id="3" name="timeline axis"/>
          <p:cNvSpPr/>
          <p:nvPr/>
        </p:nvSpPr>
        <p:spPr>
          <a:xfrm>
            <a:off x="1115568" y="1609344"/>
            <a:ext cx="0" cy="3886200"/>
          </a:xfrm>
          <a:prstGeom prst="line">
            <a:avLst/>
          </a:prstGeom>
          <a:noFill/>
          <a:ln w="25400">
            <a:solidFill>
              <a:srgbClr val="FBE3E7"/>
            </a:solidFill>
            <a:prstDash val="solid"/>
          </a:ln>
        </p:spPr>
      </p:sp>
      <p:sp>
        <p:nvSpPr>
          <p:cNvPr id="4" name="time badge 1"/>
          <p:cNvSpPr/>
          <p:nvPr/>
        </p:nvSpPr>
        <p:spPr>
          <a:xfrm>
            <a:off x="548640" y="141732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6" name="step 1"/>
          <p:cNvSpPr txBox="1"/>
          <p:nvPr/>
        </p:nvSpPr>
        <p:spPr>
          <a:xfrm>
            <a:off x="1874520" y="1399032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Hypotension + rising troponin = very high risk → cath &lt; 2 h</a:t>
            </a:r>
            <a:endParaRPr lang="en-US" sz="1500" dirty="0"/>
          </a:p>
        </p:txBody>
      </p:sp>
      <p:sp>
        <p:nvSpPr>
          <p:cNvPr id="7" name="time badge 2"/>
          <p:cNvSpPr/>
          <p:nvPr/>
        </p:nvSpPr>
        <p:spPr>
          <a:xfrm>
            <a:off x="548640" y="219456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945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</a:t>
            </a:r>
            <a:endParaRPr lang="en-US" sz="1200" dirty="0"/>
          </a:p>
        </p:txBody>
      </p:sp>
      <p:sp>
        <p:nvSpPr>
          <p:cNvPr id="9" name="step 2"/>
          <p:cNvSpPr txBox="1"/>
          <p:nvPr/>
        </p:nvSpPr>
        <p:spPr>
          <a:xfrm>
            <a:off x="1874520" y="2176272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 325 mg (already on 81 mg)</a:t>
            </a:r>
            <a:endParaRPr lang="en-US" sz="1500" dirty="0"/>
          </a:p>
        </p:txBody>
      </p:sp>
      <p:sp>
        <p:nvSpPr>
          <p:cNvPr id="10" name="time badge 3"/>
          <p:cNvSpPr/>
          <p:nvPr/>
        </p:nvSpPr>
        <p:spPr>
          <a:xfrm>
            <a:off x="548640" y="297180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9718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P2Y₁₂</a:t>
            </a:r>
            <a:endParaRPr lang="en-US" sz="1200" dirty="0"/>
          </a:p>
        </p:txBody>
      </p:sp>
      <p:sp>
        <p:nvSpPr>
          <p:cNvPr id="12" name="step 3"/>
          <p:cNvSpPr txBox="1"/>
          <p:nvPr/>
        </p:nvSpPr>
        <p:spPr>
          <a:xfrm>
            <a:off x="1874520" y="2953512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Clopidogrel 300 mg (age &gt; 75); prasugrel contraindicated after stroke</a:t>
            </a:r>
            <a:endParaRPr lang="en-US" sz="1500" dirty="0"/>
          </a:p>
        </p:txBody>
      </p:sp>
      <p:sp>
        <p:nvSpPr>
          <p:cNvPr id="13" name="time badge 4"/>
          <p:cNvSpPr/>
          <p:nvPr/>
        </p:nvSpPr>
        <p:spPr>
          <a:xfrm>
            <a:off x="548640" y="374904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7490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</a:t>
            </a:r>
            <a:endParaRPr lang="en-US" sz="1200" dirty="0"/>
          </a:p>
        </p:txBody>
      </p:sp>
      <p:sp>
        <p:nvSpPr>
          <p:cNvPr id="15" name="step 4"/>
          <p:cNvSpPr txBox="1"/>
          <p:nvPr/>
        </p:nvSpPr>
        <p:spPr>
          <a:xfrm>
            <a:off x="1874520" y="3730752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 preferred over enoxaparin (eGFR 28): 4000 U bolus, 800 U/h</a:t>
            </a:r>
            <a:endParaRPr lang="en-US" sz="1500" dirty="0"/>
          </a:p>
        </p:txBody>
      </p:sp>
      <p:sp>
        <p:nvSpPr>
          <p:cNvPr id="16" name="time badge 5"/>
          <p:cNvSpPr/>
          <p:nvPr/>
        </p:nvSpPr>
        <p:spPr>
          <a:xfrm>
            <a:off x="548640" y="452628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262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</a:t>
            </a:r>
            <a:endParaRPr lang="en-US" sz="1200" dirty="0"/>
          </a:p>
        </p:txBody>
      </p:sp>
      <p:sp>
        <p:nvSpPr>
          <p:cNvPr id="18" name="step 5"/>
          <p:cNvSpPr txBox="1"/>
          <p:nvPr/>
        </p:nvSpPr>
        <p:spPr>
          <a:xfrm>
            <a:off x="1874520" y="4507992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Atorvastatin 80 mg</a:t>
            </a:r>
            <a:endParaRPr lang="en-US" sz="1500" dirty="0"/>
          </a:p>
        </p:txBody>
      </p:sp>
      <p:sp>
        <p:nvSpPr>
          <p:cNvPr id="19" name="time badge 6"/>
          <p:cNvSpPr/>
          <p:nvPr/>
        </p:nvSpPr>
        <p:spPr>
          <a:xfrm>
            <a:off x="548640" y="530352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3035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</a:t>
            </a:r>
            <a:endParaRPr lang="en-US" sz="1200" dirty="0"/>
          </a:p>
        </p:txBody>
      </p:sp>
      <p:sp>
        <p:nvSpPr>
          <p:cNvPr id="21" name="step 6"/>
          <p:cNvSpPr txBox="1"/>
          <p:nvPr/>
        </p:nvSpPr>
        <p:spPr>
          <a:xfrm>
            <a:off x="1874520" y="5285232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2 L/min by nasal cannula (SpO₂ 89%)</a:t>
            </a:r>
            <a:endParaRPr lang="en-US" sz="1500" dirty="0"/>
          </a:p>
        </p:txBody>
      </p:sp>
      <p:sp>
        <p:nvSpPr>
          <p:cNvPr id="22" name="Key labs"/>
          <p:cNvSpPr/>
          <p:nvPr/>
        </p:nvSpPr>
        <p:spPr>
          <a:xfrm>
            <a:off x="7726680" y="1417320"/>
            <a:ext cx="3913632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3" name="Key labs icon circle"/>
          <p:cNvSpPr/>
          <p:nvPr/>
        </p:nvSpPr>
        <p:spPr>
          <a:xfrm>
            <a:off x="7909560" y="1581912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Key lab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8315" y="1680667"/>
            <a:ext cx="213970" cy="21397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458200" y="1581912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labs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909560" y="2103120"/>
            <a:ext cx="35478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Troponin I 0.45 → 2.1 ng/mL (0 h → 3 h)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Creatinine 2.1 mg/dL (baseline 1.8)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28 mL/min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 850 pg/mL</a:t>
            </a:r>
            <a:endParaRPr lang="en-US" sz="1400" dirty="0"/>
          </a:p>
        </p:txBody>
      </p:sp>
      <p:sp>
        <p:nvSpPr>
          <p:cNvPr id="27" name="Hold / avoid"/>
          <p:cNvSpPr/>
          <p:nvPr/>
        </p:nvSpPr>
        <p:spPr>
          <a:xfrm>
            <a:off x="7726680" y="3931920"/>
            <a:ext cx="3913632" cy="2286000"/>
          </a:xfrm>
          <a:prstGeom prst="roundRect">
            <a:avLst>
              <a:gd name="adj" fmla="val 4800"/>
            </a:avLst>
          </a:prstGeom>
          <a:solidFill>
            <a:schemeClr val="accent6"/>
          </a:solidFill>
          <a:ln/>
        </p:spPr>
      </p:sp>
      <p:sp>
        <p:nvSpPr>
          <p:cNvPr id="28" name="Hold / avoid icon circle"/>
          <p:cNvSpPr/>
          <p:nvPr/>
        </p:nvSpPr>
        <p:spPr>
          <a:xfrm>
            <a:off x="7909560" y="409651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Hold / avoi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315" y="4195267"/>
            <a:ext cx="213970" cy="21397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8458200" y="4096512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/ avoid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7909560" y="4617720"/>
            <a:ext cx="35478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Nitroglycerin: SBP 96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Beta-blocker: hypotension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Metformin: AKI and contrast risk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Prasugrel: prior stroke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2 · Cath lab and renal precautions</a:t>
            </a:r>
            <a:endParaRPr lang="en-US" sz="3400" dirty="0"/>
          </a:p>
        </p:txBody>
      </p:sp>
      <p:sp>
        <p:nvSpPr>
          <p:cNvPr id="3" name="stat Arrival to cath lab"/>
          <p:cNvSpPr/>
          <p:nvPr/>
        </p:nvSpPr>
        <p:spPr>
          <a:xfrm>
            <a:off x="548640" y="1371600"/>
            <a:ext cx="351434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to cath lab</a:t>
            </a:r>
            <a:endParaRPr lang="en-US" sz="1300" dirty="0"/>
          </a:p>
        </p:txBody>
      </p:sp>
      <p:sp>
        <p:nvSpPr>
          <p:cNvPr id="6" name="stat eGFR, mL/min"/>
          <p:cNvSpPr/>
          <p:nvPr/>
        </p:nvSpPr>
        <p:spPr>
          <a:xfrm>
            <a:off x="4337304" y="1371600"/>
            <a:ext cx="351434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65904" y="146304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65904" y="2194560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eGFR, mL/min</a:t>
            </a:r>
            <a:endParaRPr lang="en-US" sz="1300" dirty="0"/>
          </a:p>
        </p:txBody>
      </p:sp>
      <p:sp>
        <p:nvSpPr>
          <p:cNvPr id="9" name="stat Peak Cr (mg/dL), day 2"/>
          <p:cNvSpPr/>
          <p:nvPr/>
        </p:nvSpPr>
        <p:spPr>
          <a:xfrm>
            <a:off x="8125968" y="1371600"/>
            <a:ext cx="351434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54568" y="146304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354568" y="2194560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Cr (mg/dL), day 2</a:t>
            </a:r>
            <a:endParaRPr lang="en-US" sz="1300" dirty="0"/>
          </a:p>
        </p:txBody>
      </p:sp>
      <p:sp>
        <p:nvSpPr>
          <p:cNvPr id="12" name="Angiography &amp; PCI"/>
          <p:cNvSpPr/>
          <p:nvPr/>
        </p:nvSpPr>
        <p:spPr>
          <a:xfrm>
            <a:off x="548640" y="2971800"/>
            <a:ext cx="5408676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13" name="Angiography &amp; PCI icon circle"/>
          <p:cNvSpPr/>
          <p:nvPr/>
        </p:nvSpPr>
        <p:spPr>
          <a:xfrm>
            <a:off x="777240" y="31546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Angiography &amp; PCI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3264408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371600" y="3154680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Angiography &amp; PCI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749040"/>
            <a:ext cx="49514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Culprit: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mid-LAD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LCx 70%, RCA 50%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to LAD; staged PCI planned for LCx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contrast-induced nephropathy</a:t>
            </a:r>
            <a:endParaRPr lang="en-US" sz="1400" dirty="0"/>
          </a:p>
        </p:txBody>
      </p:sp>
      <p:sp>
        <p:nvSpPr>
          <p:cNvPr id="17" name="Elderly &amp; CKD precautions"/>
          <p:cNvSpPr/>
          <p:nvPr/>
        </p:nvSpPr>
        <p:spPr>
          <a:xfrm>
            <a:off x="6231636" y="2971800"/>
            <a:ext cx="5408676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/>
        </p:spPr>
      </p:sp>
      <p:sp>
        <p:nvSpPr>
          <p:cNvPr id="18" name="Elderly &amp; CKD precautions outline"/>
          <p:cNvSpPr/>
          <p:nvPr/>
        </p:nvSpPr>
        <p:spPr>
          <a:xfrm>
            <a:off x="6231636" y="2971800"/>
            <a:ext cx="5408676" cy="3246120"/>
          </a:xfrm>
          <a:prstGeom prst="roundRect">
            <a:avLst>
              <a:gd name="adj" fmla="val 3380"/>
            </a:avLst>
          </a:prstGeom>
          <a:ln w="19050">
            <a:solidFill>
              <a:srgbClr val="F3F4F7"/>
            </a:solidFill>
            <a:prstDash val="solid"/>
          </a:ln>
        </p:spPr>
      </p:sp>
      <p:sp>
        <p:nvSpPr>
          <p:cNvPr id="19" name="Elderly &amp; CKD precautions icon circle"/>
          <p:cNvSpPr/>
          <p:nvPr/>
        </p:nvSpPr>
        <p:spPr>
          <a:xfrm>
            <a:off x="6460236" y="31546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Elderly &amp; CKD precautio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964" y="3264408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054596" y="3154680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&amp; CKD precautions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6460236" y="3749040"/>
            <a:ext cx="49514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Contrast-minimisation protocol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fluids before and after cath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renal function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access (lower bleeding)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clopidogrel loading dose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2 · Key teaching points</a:t>
            </a:r>
            <a:endParaRPr lang="en-US" sz="3400" dirty="0"/>
          </a:p>
        </p:txBody>
      </p:sp>
      <p:sp>
        <p:nvSpPr>
          <p:cNvPr id="3" name="point 1"/>
          <p:cNvSpPr/>
          <p:nvPr/>
        </p:nvSpPr>
        <p:spPr>
          <a:xfrm>
            <a:off x="548640" y="1371600"/>
            <a:ext cx="5408676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4" name="point icon 1 circle"/>
          <p:cNvSpPr/>
          <p:nvPr/>
        </p:nvSpPr>
        <p:spPr>
          <a:xfrm>
            <a:off x="749808" y="15727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point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82496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536192"/>
            <a:ext cx="44485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Atypical presentation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240280"/>
            <a:ext cx="50063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women often present with dyspnoea, epigastric pain or weakness rather than chest pain.</a:t>
            </a:r>
            <a:endParaRPr lang="en-US" sz="1800" dirty="0"/>
          </a:p>
        </p:txBody>
      </p:sp>
      <p:sp>
        <p:nvSpPr>
          <p:cNvPr id="8" name="point 2"/>
          <p:cNvSpPr/>
          <p:nvPr/>
        </p:nvSpPr>
        <p:spPr>
          <a:xfrm>
            <a:off x="6231636" y="1371600"/>
            <a:ext cx="5408676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9" name="point icon 2 circle"/>
          <p:cNvSpPr/>
          <p:nvPr/>
        </p:nvSpPr>
        <p:spPr>
          <a:xfrm>
            <a:off x="6432804" y="15727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point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532" y="168249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08876" y="1536192"/>
            <a:ext cx="44485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drives timing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32804" y="2240280"/>
            <a:ext cx="50063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high-risk features warranted urgent cath despite age and CKD.</a:t>
            </a:r>
            <a:endParaRPr lang="en-US" sz="1800" dirty="0"/>
          </a:p>
        </p:txBody>
      </p:sp>
      <p:sp>
        <p:nvSpPr>
          <p:cNvPr id="13" name="point 3"/>
          <p:cNvSpPr/>
          <p:nvPr/>
        </p:nvSpPr>
        <p:spPr>
          <a:xfrm>
            <a:off x="548640" y="3931920"/>
            <a:ext cx="5408676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4" name="point icon 3 circle"/>
          <p:cNvSpPr/>
          <p:nvPr/>
        </p:nvSpPr>
        <p:spPr>
          <a:xfrm>
            <a:off x="749808" y="413308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point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24281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4096512"/>
            <a:ext cx="44485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doses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49808" y="4800600"/>
            <a:ext cx="50063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Clopidogrel 300 mg in age &gt; 75; UFH rather than enoxaparin when eGFR &lt; 30.</a:t>
            </a:r>
            <a:endParaRPr lang="en-US" sz="1800" dirty="0"/>
          </a:p>
        </p:txBody>
      </p:sp>
      <p:sp>
        <p:nvSpPr>
          <p:cNvPr id="18" name="point 4"/>
          <p:cNvSpPr/>
          <p:nvPr/>
        </p:nvSpPr>
        <p:spPr>
          <a:xfrm>
            <a:off x="6231636" y="3931920"/>
            <a:ext cx="5408676" cy="2286000"/>
          </a:xfrm>
          <a:prstGeom prst="roundRect">
            <a:avLst>
              <a:gd name="adj" fmla="val 4800"/>
            </a:avLst>
          </a:prstGeom>
          <a:solidFill>
            <a:schemeClr val="accent6"/>
          </a:solidFill>
          <a:ln/>
        </p:spPr>
      </p:sp>
      <p:sp>
        <p:nvSpPr>
          <p:cNvPr id="19" name="point icon 4 circle"/>
          <p:cNvSpPr/>
          <p:nvPr/>
        </p:nvSpPr>
        <p:spPr>
          <a:xfrm>
            <a:off x="6432804" y="41330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point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532" y="424281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08876" y="4096512"/>
            <a:ext cx="44485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kidney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32804" y="4800600"/>
            <a:ext cx="50063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nephrotoxins and minimise contrast. Prior stroke rules out prasugrel; clopidogrel is fine.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number"/>
          <p:cNvSpPr txBox="1"/>
          <p:nvPr/>
        </p:nvSpPr>
        <p:spPr>
          <a:xfrm>
            <a:off x="731520" y="8229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Cocaine-associated MI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86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35-year-old man · severe chest pain after intranasal cocaine</a:t>
            </a:r>
            <a:endParaRPr lang="en-US" sz="2000" dirty="0"/>
          </a:p>
        </p:txBody>
      </p:sp>
      <p:sp>
        <p:nvSpPr>
          <p:cNvPr id="5" name="question band"/>
          <p:cNvSpPr/>
          <p:nvPr/>
        </p:nvSpPr>
        <p:spPr>
          <a:xfrm>
            <a:off x="731520" y="5074920"/>
            <a:ext cx="1069848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/>
        </p:spPr>
      </p:sp>
      <p:sp>
        <p:nvSpPr>
          <p:cNvPr id="6" name="question icon circle"/>
          <p:cNvSpPr/>
          <p:nvPr/>
        </p:nvSpPr>
        <p:spPr>
          <a:xfrm>
            <a:off x="914400" y="523036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ques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5362042"/>
            <a:ext cx="285293" cy="285293"/>
          </a:xfrm>
          <a:prstGeom prst="rect">
            <a:avLst/>
          </a:prstGeom>
        </p:spPr>
      </p:pic>
      <p:sp>
        <p:nvSpPr>
          <p:cNvPr id="8" name="discussion question"/>
          <p:cNvSpPr txBox="1"/>
          <p:nvPr/>
        </p:nvSpPr>
        <p:spPr>
          <a:xfrm>
            <a:off x="1645920" y="50749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Tachycardic, BP 198/112, anterior ST elevation. Which drug that you give every other STEMI must you avoid?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3 · Presentation</a:t>
            </a:r>
            <a:endParaRPr lang="en-US" sz="3400" dirty="0"/>
          </a:p>
        </p:txBody>
      </p:sp>
      <p:sp>
        <p:nvSpPr>
          <p:cNvPr id="3" name="patient card"/>
          <p:cNvSpPr/>
          <p:nvPr/>
        </p:nvSpPr>
        <p:spPr>
          <a:xfrm>
            <a:off x="548640" y="1371600"/>
            <a:ext cx="566928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/>
        </p:spPr>
      </p:sp>
      <p:sp>
        <p:nvSpPr>
          <p:cNvPr id="4" name="patient icon circle"/>
          <p:cNvSpPr/>
          <p:nvPr/>
        </p:nvSpPr>
        <p:spPr>
          <a:xfrm>
            <a:off x="777240" y="157276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atien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704442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727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35-year-old male</a:t>
            </a:r>
            <a:endParaRPr lang="en-US" sz="2000" dirty="0"/>
          </a:p>
        </p:txBody>
      </p:sp>
      <p:sp>
        <p:nvSpPr>
          <p:cNvPr id="7" name="history"/>
          <p:cNvSpPr txBox="1"/>
          <p:nvPr/>
        </p:nvSpPr>
        <p:spPr>
          <a:xfrm>
            <a:off x="777240" y="2286000"/>
            <a:ext cx="52120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chest is killing me”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HPI: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substernal pain for 2 h, starting 30 min after intranasal cocaine; 10/10, crushing, radiating to both arms; extreme anxiety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PMH: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None. Cocaine use for 10 years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marijuana; denies other drugs today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1371600"/>
            <a:ext cx="5148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signs</a:t>
            </a:r>
            <a:endParaRPr lang="en-US" sz="1600" dirty="0"/>
          </a:p>
        </p:txBody>
      </p:sp>
      <p:sp>
        <p:nvSpPr>
          <p:cNvPr id="9" name="vital HR"/>
          <p:cNvSpPr/>
          <p:nvPr/>
        </p:nvSpPr>
        <p:spPr>
          <a:xfrm>
            <a:off x="6492240" y="1783080"/>
            <a:ext cx="1624584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629400" y="1856232"/>
            <a:ext cx="1350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· bpm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148840"/>
            <a:ext cx="1350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400" dirty="0"/>
          </a:p>
        </p:txBody>
      </p:sp>
      <p:sp>
        <p:nvSpPr>
          <p:cNvPr id="12" name="vital BP"/>
          <p:cNvSpPr/>
          <p:nvPr/>
        </p:nvSpPr>
        <p:spPr>
          <a:xfrm>
            <a:off x="8253984" y="1783080"/>
            <a:ext cx="1624584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391144" y="1856232"/>
            <a:ext cx="1350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· mmHg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391144" y="2148840"/>
            <a:ext cx="1350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198/112</a:t>
            </a:r>
            <a:endParaRPr lang="en-US" sz="1400" dirty="0"/>
          </a:p>
        </p:txBody>
      </p:sp>
      <p:sp>
        <p:nvSpPr>
          <p:cNvPr id="15" name="vital RR"/>
          <p:cNvSpPr/>
          <p:nvPr/>
        </p:nvSpPr>
        <p:spPr>
          <a:xfrm>
            <a:off x="10015728" y="1783080"/>
            <a:ext cx="1624584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152888" y="1856232"/>
            <a:ext cx="1350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· /min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152888" y="2148840"/>
            <a:ext cx="1350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400" dirty="0"/>
          </a:p>
        </p:txBody>
      </p:sp>
      <p:sp>
        <p:nvSpPr>
          <p:cNvPr id="18" name="vital SpO₂"/>
          <p:cNvSpPr/>
          <p:nvPr/>
        </p:nvSpPr>
        <p:spPr>
          <a:xfrm>
            <a:off x="6492240" y="2788920"/>
            <a:ext cx="1624584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29400" y="2862072"/>
            <a:ext cx="1350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SpO₂ · RA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629400" y="3154680"/>
            <a:ext cx="1350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400" dirty="0"/>
          </a:p>
        </p:txBody>
      </p:sp>
      <p:sp>
        <p:nvSpPr>
          <p:cNvPr id="21" name="vital Temp"/>
          <p:cNvSpPr/>
          <p:nvPr/>
        </p:nvSpPr>
        <p:spPr>
          <a:xfrm>
            <a:off x="8253984" y="2788920"/>
            <a:ext cx="1624584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391144" y="2862072"/>
            <a:ext cx="1350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· °C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391144" y="3154680"/>
            <a:ext cx="1350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38.2</a:t>
            </a:r>
            <a:endParaRPr lang="en-US" sz="1400" dirty="0"/>
          </a:p>
        </p:txBody>
      </p:sp>
      <p:sp>
        <p:nvSpPr>
          <p:cNvPr id="24" name="ecg card"/>
          <p:cNvSpPr/>
          <p:nvPr/>
        </p:nvSpPr>
        <p:spPr>
          <a:xfrm>
            <a:off x="6492240" y="3886200"/>
            <a:ext cx="5148072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25" name="ecg icon circle"/>
          <p:cNvSpPr/>
          <p:nvPr/>
        </p:nvSpPr>
        <p:spPr>
          <a:xfrm>
            <a:off x="6675120" y="4069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ec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178808"/>
            <a:ext cx="237744" cy="237744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26948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</a:t>
            </a:r>
            <a:endParaRPr lang="en-US" sz="1600" dirty="0"/>
          </a:p>
        </p:txBody>
      </p:sp>
      <p:sp>
        <p:nvSpPr>
          <p:cNvPr id="28" name="ecg findings"/>
          <p:cNvSpPr txBox="1"/>
          <p:nvPr/>
        </p:nvSpPr>
        <p:spPr>
          <a:xfrm>
            <a:off x="6675120" y="4663440"/>
            <a:ext cx="4782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 tachycardia 128 bpm. 2–3 mm ST elevation in V2–V5. No prior ECG for comparison.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STEMI vs cocaine vasospasm vs early repolarisation?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3 · Cocaine chest-pain protocol</a:t>
            </a:r>
            <a:endParaRPr lang="en-US" sz="3400" dirty="0"/>
          </a:p>
        </p:txBody>
      </p:sp>
      <p:sp>
        <p:nvSpPr>
          <p:cNvPr id="3" name="timeline axis"/>
          <p:cNvSpPr/>
          <p:nvPr/>
        </p:nvSpPr>
        <p:spPr>
          <a:xfrm>
            <a:off x="1115568" y="1609344"/>
            <a:ext cx="0" cy="4114800"/>
          </a:xfrm>
          <a:prstGeom prst="line">
            <a:avLst/>
          </a:prstGeom>
          <a:noFill/>
          <a:ln w="25400">
            <a:solidFill>
              <a:srgbClr val="FBE3E7"/>
            </a:solidFill>
            <a:prstDash val="solid"/>
          </a:ln>
        </p:spPr>
      </p:sp>
      <p:sp>
        <p:nvSpPr>
          <p:cNvPr id="4" name="time badge 1"/>
          <p:cNvSpPr/>
          <p:nvPr/>
        </p:nvSpPr>
        <p:spPr>
          <a:xfrm>
            <a:off x="548640" y="141732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</a:t>
            </a:r>
            <a:endParaRPr lang="en-US" sz="1200" dirty="0"/>
          </a:p>
        </p:txBody>
      </p:sp>
      <p:sp>
        <p:nvSpPr>
          <p:cNvPr id="6" name="step 1"/>
          <p:cNvSpPr txBox="1"/>
          <p:nvPr/>
        </p:nvSpPr>
        <p:spPr>
          <a:xfrm>
            <a:off x="1874520" y="1399032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 325 mg chewed</a:t>
            </a:r>
            <a:endParaRPr lang="en-US" sz="1500" dirty="0"/>
          </a:p>
        </p:txBody>
      </p:sp>
      <p:sp>
        <p:nvSpPr>
          <p:cNvPr id="7" name="time badge 2"/>
          <p:cNvSpPr/>
          <p:nvPr/>
        </p:nvSpPr>
        <p:spPr>
          <a:xfrm>
            <a:off x="548640" y="210312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031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line</a:t>
            </a:r>
            <a:endParaRPr lang="en-US" sz="1200" dirty="0"/>
          </a:p>
        </p:txBody>
      </p:sp>
      <p:sp>
        <p:nvSpPr>
          <p:cNvPr id="9" name="step 2"/>
          <p:cNvSpPr txBox="1"/>
          <p:nvPr/>
        </p:nvSpPr>
        <p:spPr>
          <a:xfrm>
            <a:off x="1874520" y="2084832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Lorazepam 2 mg IV to reduce sympathetic tone</a:t>
            </a:r>
            <a:endParaRPr lang="en-US" sz="1500" dirty="0"/>
          </a:p>
        </p:txBody>
      </p:sp>
      <p:sp>
        <p:nvSpPr>
          <p:cNvPr id="10" name="time badge 3"/>
          <p:cNvSpPr/>
          <p:nvPr/>
        </p:nvSpPr>
        <p:spPr>
          <a:xfrm>
            <a:off x="548640" y="278892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7889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NTG</a:t>
            </a:r>
            <a:endParaRPr lang="en-US" sz="1200" dirty="0"/>
          </a:p>
        </p:txBody>
      </p:sp>
      <p:sp>
        <p:nvSpPr>
          <p:cNvPr id="12" name="step 3"/>
          <p:cNvSpPr txBox="1"/>
          <p:nvPr/>
        </p:nvSpPr>
        <p:spPr>
          <a:xfrm>
            <a:off x="1874520" y="2770632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Nitroglycerin 0.4 mg SL, then IV infusion (coronary vasodilator)</a:t>
            </a:r>
            <a:endParaRPr lang="en-US" sz="1500" dirty="0"/>
          </a:p>
        </p:txBody>
      </p:sp>
      <p:sp>
        <p:nvSpPr>
          <p:cNvPr id="13" name="time badge 4"/>
          <p:cNvSpPr/>
          <p:nvPr/>
        </p:nvSpPr>
        <p:spPr>
          <a:xfrm>
            <a:off x="548640" y="347472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4747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α-block</a:t>
            </a:r>
            <a:endParaRPr lang="en-US" sz="1200" dirty="0"/>
          </a:p>
        </p:txBody>
      </p:sp>
      <p:sp>
        <p:nvSpPr>
          <p:cNvPr id="15" name="step 4"/>
          <p:cNvSpPr txBox="1"/>
          <p:nvPr/>
        </p:nvSpPr>
        <p:spPr>
          <a:xfrm>
            <a:off x="1874520" y="3456432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Phentolamine 5 mg IV for severe hypertension</a:t>
            </a:r>
            <a:endParaRPr lang="en-US" sz="1500" dirty="0"/>
          </a:p>
        </p:txBody>
      </p:sp>
      <p:sp>
        <p:nvSpPr>
          <p:cNvPr id="16" name="time badge 5"/>
          <p:cNvSpPr/>
          <p:nvPr/>
        </p:nvSpPr>
        <p:spPr>
          <a:xfrm>
            <a:off x="548640" y="416052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1605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</a:t>
            </a:r>
            <a:endParaRPr lang="en-US" sz="1200" dirty="0"/>
          </a:p>
        </p:txBody>
      </p:sp>
      <p:sp>
        <p:nvSpPr>
          <p:cNvPr id="18" name="step 5"/>
          <p:cNvSpPr txBox="1"/>
          <p:nvPr/>
        </p:nvSpPr>
        <p:spPr>
          <a:xfrm>
            <a:off x="1874520" y="4142232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Morphine 4 mg IV (pain and sympathetic tone)</a:t>
            </a:r>
            <a:endParaRPr lang="en-US" sz="1500" dirty="0"/>
          </a:p>
        </p:txBody>
      </p:sp>
      <p:sp>
        <p:nvSpPr>
          <p:cNvPr id="19" name="time badge 6"/>
          <p:cNvSpPr/>
          <p:nvPr/>
        </p:nvSpPr>
        <p:spPr>
          <a:xfrm>
            <a:off x="548640" y="484632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8463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21" name="step 6"/>
          <p:cNvSpPr txBox="1"/>
          <p:nvPr/>
        </p:nvSpPr>
        <p:spPr>
          <a:xfrm>
            <a:off x="1874520" y="4828032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10 → 4/10; BP 162/88; HR 102</a:t>
            </a:r>
            <a:endParaRPr lang="en-US" sz="1500" dirty="0"/>
          </a:p>
        </p:txBody>
      </p:sp>
      <p:sp>
        <p:nvSpPr>
          <p:cNvPr id="22" name="time badge 7"/>
          <p:cNvSpPr/>
          <p:nvPr/>
        </p:nvSpPr>
        <p:spPr>
          <a:xfrm>
            <a:off x="548640" y="553212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5321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200" dirty="0"/>
          </a:p>
        </p:txBody>
      </p:sp>
      <p:sp>
        <p:nvSpPr>
          <p:cNvPr id="24" name="step 7"/>
          <p:cNvSpPr txBox="1"/>
          <p:nvPr/>
        </p:nvSpPr>
        <p:spPr>
          <a:xfrm>
            <a:off x="1874520" y="5513832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ECG: ST elevation down to 1 mm but persistent → cath lab</a:t>
            </a:r>
            <a:endParaRPr lang="en-US" sz="1500" dirty="0"/>
          </a:p>
        </p:txBody>
      </p:sp>
      <p:sp>
        <p:nvSpPr>
          <p:cNvPr id="25" name="Do not give"/>
          <p:cNvSpPr/>
          <p:nvPr/>
        </p:nvSpPr>
        <p:spPr>
          <a:xfrm>
            <a:off x="7726680" y="1417320"/>
            <a:ext cx="3913632" cy="1965960"/>
          </a:xfrm>
          <a:prstGeom prst="roundRect">
            <a:avLst>
              <a:gd name="adj" fmla="val 5581"/>
            </a:avLst>
          </a:prstGeom>
          <a:solidFill>
            <a:schemeClr val="accent6"/>
          </a:solidFill>
          <a:ln/>
        </p:spPr>
      </p:sp>
      <p:sp>
        <p:nvSpPr>
          <p:cNvPr id="26" name="Do not give icon circle"/>
          <p:cNvSpPr/>
          <p:nvPr/>
        </p:nvSpPr>
        <p:spPr>
          <a:xfrm>
            <a:off x="7909560" y="158191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Do not giv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8315" y="1680667"/>
            <a:ext cx="213970" cy="21397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8458200" y="1581912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give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7909560" y="2103120"/>
            <a:ext cx="35478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Beta-blocker acutely: unopposed α-stimulation worsens vasospasm and hypertension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P2Y₁₂ inhibitor until anatomy is known (may be spasm only)</a:t>
            </a:r>
            <a:endParaRPr lang="en-US" sz="1400" dirty="0"/>
          </a:p>
        </p:txBody>
      </p:sp>
      <p:sp>
        <p:nvSpPr>
          <p:cNvPr id="30" name="Key labs"/>
          <p:cNvSpPr/>
          <p:nvPr/>
        </p:nvSpPr>
        <p:spPr>
          <a:xfrm>
            <a:off x="7726680" y="3611880"/>
            <a:ext cx="3913632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31" name="Key labs icon circle"/>
          <p:cNvSpPr/>
          <p:nvPr/>
        </p:nvSpPr>
        <p:spPr>
          <a:xfrm>
            <a:off x="7909560" y="3776472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2" name="Key lab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315" y="3875227"/>
            <a:ext cx="213970" cy="21397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8458200" y="3776472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labs</a:t>
            </a:r>
            <a:endParaRPr lang="en-US" sz="1600" dirty="0"/>
          </a:p>
        </p:txBody>
      </p:sp>
      <p:sp>
        <p:nvSpPr>
          <p:cNvPr id="34" name="Text 30"/>
          <p:cNvSpPr txBox="1"/>
          <p:nvPr/>
        </p:nvSpPr>
        <p:spPr>
          <a:xfrm>
            <a:off x="7909560" y="4297680"/>
            <a:ext cx="35478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Troponin I 0.15 → 0.42 ng/mL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drugs: cocaine, THC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Creatinine 1.1 mg/dL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3 · Cath lab and discharge</a:t>
            </a:r>
            <a:endParaRPr lang="en-US" sz="3400" dirty="0"/>
          </a:p>
        </p:txBody>
      </p:sp>
      <p:sp>
        <p:nvSpPr>
          <p:cNvPr id="3" name="stat Pain score after benzo + NTG"/>
          <p:cNvSpPr/>
          <p:nvPr/>
        </p:nvSpPr>
        <p:spPr>
          <a:xfrm>
            <a:off x="548640" y="1371600"/>
            <a:ext cx="351434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→ 4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score after benzo + NTG</a:t>
            </a:r>
            <a:endParaRPr lang="en-US" sz="1300" dirty="0"/>
          </a:p>
        </p:txBody>
      </p:sp>
      <p:sp>
        <p:nvSpPr>
          <p:cNvPr id="6" name="stat Thrombotic mid-LAD lesion"/>
          <p:cNvSpPr/>
          <p:nvPr/>
        </p:nvSpPr>
        <p:spPr>
          <a:xfrm>
            <a:off x="4337304" y="1371600"/>
            <a:ext cx="351434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65904" y="146304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65904" y="2194560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Thrombotic mid-LAD lesion</a:t>
            </a:r>
            <a:endParaRPr lang="en-US" sz="1300" dirty="0"/>
          </a:p>
        </p:txBody>
      </p:sp>
      <p:sp>
        <p:nvSpPr>
          <p:cNvPr id="9" name="stat Recurrent MI with continued use"/>
          <p:cNvSpPr/>
          <p:nvPr/>
        </p:nvSpPr>
        <p:spPr>
          <a:xfrm>
            <a:off x="8125968" y="1371600"/>
            <a:ext cx="351434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54568" y="146304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354568" y="2194560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MI with continued use</a:t>
            </a:r>
            <a:endParaRPr lang="en-US" sz="1300" dirty="0"/>
          </a:p>
        </p:txBody>
      </p:sp>
      <p:sp>
        <p:nvSpPr>
          <p:cNvPr id="12" name="Angiography &amp; PCI"/>
          <p:cNvSpPr/>
          <p:nvPr/>
        </p:nvSpPr>
        <p:spPr>
          <a:xfrm>
            <a:off x="548640" y="2971800"/>
            <a:ext cx="5408676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13" name="Angiography &amp; PCI icon circle"/>
          <p:cNvSpPr/>
          <p:nvPr/>
        </p:nvSpPr>
        <p:spPr>
          <a:xfrm>
            <a:off x="777240" y="31546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Angiography &amp; PCI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3264408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371600" y="3154680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Angiography &amp; PCI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749040"/>
            <a:ext cx="49514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LAD vasospasm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Culprit: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thrombotic mid-LAD lesion (plaque rupture from shear stress)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Intracoronary nicardipine for spasm, then DES to LAD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final result</a:t>
            </a:r>
            <a:endParaRPr lang="en-US" sz="1400" dirty="0"/>
          </a:p>
        </p:txBody>
      </p:sp>
      <p:sp>
        <p:nvSpPr>
          <p:cNvPr id="17" name="Discharge plan"/>
          <p:cNvSpPr/>
          <p:nvPr/>
        </p:nvSpPr>
        <p:spPr>
          <a:xfrm>
            <a:off x="6231636" y="2971800"/>
            <a:ext cx="5408676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/>
        </p:spPr>
      </p:sp>
      <p:sp>
        <p:nvSpPr>
          <p:cNvPr id="18" name="Discharge plan outline"/>
          <p:cNvSpPr/>
          <p:nvPr/>
        </p:nvSpPr>
        <p:spPr>
          <a:xfrm>
            <a:off x="6231636" y="2971800"/>
            <a:ext cx="5408676" cy="3246120"/>
          </a:xfrm>
          <a:prstGeom prst="roundRect">
            <a:avLst>
              <a:gd name="adj" fmla="val 3380"/>
            </a:avLst>
          </a:prstGeom>
          <a:ln w="19050">
            <a:solidFill>
              <a:srgbClr val="F3F4F7"/>
            </a:solidFill>
            <a:prstDash val="solid"/>
          </a:ln>
        </p:spPr>
      </p:sp>
      <p:sp>
        <p:nvSpPr>
          <p:cNvPr id="19" name="Discharge plan icon circle"/>
          <p:cNvSpPr/>
          <p:nvPr/>
        </p:nvSpPr>
        <p:spPr>
          <a:xfrm>
            <a:off x="6460236" y="31546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Discharge pla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964" y="3264408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054596" y="3154680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plan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6460236" y="3749040"/>
            <a:ext cx="49514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 81 mg + ticagrelor 90 mg BID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Atorvastatin 80 mg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Metoprolol 25 mg BID (safe once cocaine cleared)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Substance-use referral, psychiatry, social work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3 · Key teaching points</a:t>
            </a:r>
            <a:endParaRPr lang="en-US" sz="3400" dirty="0"/>
          </a:p>
        </p:txBody>
      </p:sp>
      <p:sp>
        <p:nvSpPr>
          <p:cNvPr id="3" name="point 1"/>
          <p:cNvSpPr/>
          <p:nvPr/>
        </p:nvSpPr>
        <p:spPr>
          <a:xfrm>
            <a:off x="548640" y="1371600"/>
            <a:ext cx="3514344" cy="2286000"/>
          </a:xfrm>
          <a:prstGeom prst="roundRect">
            <a:avLst>
              <a:gd name="adj" fmla="val 4800"/>
            </a:avLst>
          </a:prstGeom>
          <a:solidFill>
            <a:schemeClr val="accent6"/>
          </a:solidFill>
          <a:ln/>
        </p:spPr>
      </p:sp>
      <p:sp>
        <p:nvSpPr>
          <p:cNvPr id="4" name="point icon 1 circle"/>
          <p:cNvSpPr/>
          <p:nvPr/>
        </p:nvSpPr>
        <p:spPr>
          <a:xfrm>
            <a:off x="749808" y="15727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oint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82496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536192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acute beta-blocker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240280"/>
            <a:ext cx="3112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Unopposed α-stimulation worsens coronary spasm, hypertension and ischaemia.</a:t>
            </a:r>
            <a:endParaRPr lang="en-US" sz="1600" dirty="0"/>
          </a:p>
        </p:txBody>
      </p:sp>
      <p:sp>
        <p:nvSpPr>
          <p:cNvPr id="8" name="point 2"/>
          <p:cNvSpPr/>
          <p:nvPr/>
        </p:nvSpPr>
        <p:spPr>
          <a:xfrm>
            <a:off x="4337304" y="1371600"/>
            <a:ext cx="351434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9" name="point icon 2 circle"/>
          <p:cNvSpPr/>
          <p:nvPr/>
        </p:nvSpPr>
        <p:spPr>
          <a:xfrm>
            <a:off x="4538472" y="15727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point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8249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14544" y="1536192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Benzodiazepine + NTG first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38472" y="2240280"/>
            <a:ext cx="3112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sympathetic tone and vasodilate the coronaries; phentolamine for severe HTN.</a:t>
            </a:r>
            <a:endParaRPr lang="en-US" sz="1600" dirty="0"/>
          </a:p>
        </p:txBody>
      </p:sp>
      <p:sp>
        <p:nvSpPr>
          <p:cNvPr id="13" name="point 3"/>
          <p:cNvSpPr/>
          <p:nvPr/>
        </p:nvSpPr>
        <p:spPr>
          <a:xfrm>
            <a:off x="8125968" y="1371600"/>
            <a:ext cx="351434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4" name="point icon 3 circle"/>
          <p:cNvSpPr/>
          <p:nvPr/>
        </p:nvSpPr>
        <p:spPr>
          <a:xfrm>
            <a:off x="8327136" y="15727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point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864" y="168249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03208" y="1536192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327136" y="2240280"/>
            <a:ext cx="3112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Vasospasm, platelet activation, plaque rupture and increased O₂ demand.</a:t>
            </a:r>
            <a:endParaRPr lang="en-US" sz="1600" dirty="0"/>
          </a:p>
        </p:txBody>
      </p:sp>
      <p:sp>
        <p:nvSpPr>
          <p:cNvPr id="18" name="point 4"/>
          <p:cNvSpPr/>
          <p:nvPr/>
        </p:nvSpPr>
        <p:spPr>
          <a:xfrm>
            <a:off x="548640" y="3931920"/>
            <a:ext cx="351434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9" name="point icon 4 circle"/>
          <p:cNvSpPr/>
          <p:nvPr/>
        </p:nvSpPr>
        <p:spPr>
          <a:xfrm>
            <a:off x="749808" y="413308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point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24281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4096512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STEMI: think cocaine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49808" y="4800600"/>
            <a:ext cx="3112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no risk factors; MI can occur up to 24 h after use.</a:t>
            </a:r>
            <a:endParaRPr lang="en-US" sz="1600" dirty="0"/>
          </a:p>
        </p:txBody>
      </p:sp>
      <p:sp>
        <p:nvSpPr>
          <p:cNvPr id="23" name="point 5"/>
          <p:cNvSpPr/>
          <p:nvPr/>
        </p:nvSpPr>
        <p:spPr>
          <a:xfrm>
            <a:off x="4337304" y="3931920"/>
            <a:ext cx="351434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4" name="point icon 5 circle"/>
          <p:cNvSpPr/>
          <p:nvPr/>
        </p:nvSpPr>
        <p:spPr>
          <a:xfrm>
            <a:off x="4538472" y="413308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point icon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4242816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114544" y="4096512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pitfall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538472" y="4800600"/>
            <a:ext cx="3112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early repolarisation is common; use serial ECGs and troponins.</a:t>
            </a:r>
            <a:endParaRPr lang="en-US" sz="1600" dirty="0"/>
          </a:p>
        </p:txBody>
      </p:sp>
      <p:sp>
        <p:nvSpPr>
          <p:cNvPr id="28" name="point 6"/>
          <p:cNvSpPr/>
          <p:nvPr/>
        </p:nvSpPr>
        <p:spPr>
          <a:xfrm>
            <a:off x="8125968" y="3931920"/>
            <a:ext cx="351434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9" name="point icon 6 circle"/>
          <p:cNvSpPr/>
          <p:nvPr/>
        </p:nvSpPr>
        <p:spPr>
          <a:xfrm>
            <a:off x="8327136" y="413308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point icon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6864" y="4242816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903208" y="4096512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addiction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327136" y="4800600"/>
            <a:ext cx="3112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25% have recurrent MI with continued use; referral is mandatory.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number"/>
          <p:cNvSpPr txBox="1"/>
          <p:nvPr/>
        </p:nvSpPr>
        <p:spPr>
          <a:xfrm>
            <a:off x="731520" y="8229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Anterior STEMI with cardiogenic shock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86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71-year-old man · 4 hours of chest pain, now hypotensive with pulmonary oedema</a:t>
            </a:r>
            <a:endParaRPr lang="en-US" sz="2000" dirty="0"/>
          </a:p>
        </p:txBody>
      </p:sp>
      <p:sp>
        <p:nvSpPr>
          <p:cNvPr id="5" name="question band"/>
          <p:cNvSpPr/>
          <p:nvPr/>
        </p:nvSpPr>
        <p:spPr>
          <a:xfrm>
            <a:off x="731520" y="5074920"/>
            <a:ext cx="1069848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/>
        </p:spPr>
      </p:sp>
      <p:sp>
        <p:nvSpPr>
          <p:cNvPr id="6" name="question icon circle"/>
          <p:cNvSpPr/>
          <p:nvPr/>
        </p:nvSpPr>
        <p:spPr>
          <a:xfrm>
            <a:off x="914400" y="523036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ques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5362042"/>
            <a:ext cx="285293" cy="285293"/>
          </a:xfrm>
          <a:prstGeom prst="rect">
            <a:avLst/>
          </a:prstGeom>
        </p:spPr>
      </p:pic>
      <p:sp>
        <p:nvSpPr>
          <p:cNvPr id="8" name="discussion question"/>
          <p:cNvSpPr txBox="1"/>
          <p:nvPr/>
        </p:nvSpPr>
        <p:spPr>
          <a:xfrm>
            <a:off x="1645920" y="50749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78/52, SpO₂ 84%, confused and mottled. What do you do in the first 20 minutes?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4 · Presentation</a:t>
            </a:r>
            <a:endParaRPr lang="en-US" sz="3400" dirty="0"/>
          </a:p>
        </p:txBody>
      </p:sp>
      <p:sp>
        <p:nvSpPr>
          <p:cNvPr id="3" name="patient card"/>
          <p:cNvSpPr/>
          <p:nvPr/>
        </p:nvSpPr>
        <p:spPr>
          <a:xfrm>
            <a:off x="548640" y="1371600"/>
            <a:ext cx="566928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/>
        </p:spPr>
      </p:sp>
      <p:sp>
        <p:nvSpPr>
          <p:cNvPr id="4" name="patient icon circle"/>
          <p:cNvSpPr/>
          <p:nvPr/>
        </p:nvSpPr>
        <p:spPr>
          <a:xfrm>
            <a:off x="777240" y="157276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atien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704442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727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71-year-old male</a:t>
            </a:r>
            <a:endParaRPr lang="en-US" sz="2000" dirty="0"/>
          </a:p>
        </p:txBody>
      </p:sp>
      <p:sp>
        <p:nvSpPr>
          <p:cNvPr id="7" name="history"/>
          <p:cNvSpPr txBox="1"/>
          <p:nvPr/>
        </p:nvSpPr>
        <p:spPr>
          <a:xfrm>
            <a:off x="777240" y="2286000"/>
            <a:ext cx="52120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“Chest pain and shortness of breath”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HPI: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 of severe chest pain (thought it was heartburn); now very dyspnoeic, confused, cold and clammy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PMH: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MI with RCA stent, LVEF 30%, CHF, HTN, DM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Rales to mid-lung fields, S3 gallop, cool mottled extremities, capillary refill &gt; 3 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1371600"/>
            <a:ext cx="5148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signs</a:t>
            </a:r>
            <a:endParaRPr lang="en-US" sz="1600" dirty="0"/>
          </a:p>
        </p:txBody>
      </p:sp>
      <p:sp>
        <p:nvSpPr>
          <p:cNvPr id="9" name="vital HR"/>
          <p:cNvSpPr/>
          <p:nvPr/>
        </p:nvSpPr>
        <p:spPr>
          <a:xfrm>
            <a:off x="6492240" y="1783080"/>
            <a:ext cx="1624584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629400" y="1856232"/>
            <a:ext cx="1350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· bpm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148840"/>
            <a:ext cx="1350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1400" dirty="0"/>
          </a:p>
        </p:txBody>
      </p:sp>
      <p:sp>
        <p:nvSpPr>
          <p:cNvPr id="12" name="vital BP"/>
          <p:cNvSpPr/>
          <p:nvPr/>
        </p:nvSpPr>
        <p:spPr>
          <a:xfrm>
            <a:off x="8253984" y="1783080"/>
            <a:ext cx="1624584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391144" y="1856232"/>
            <a:ext cx="1350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· mmHg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391144" y="2148840"/>
            <a:ext cx="1350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78/52</a:t>
            </a:r>
            <a:endParaRPr lang="en-US" sz="1400" dirty="0"/>
          </a:p>
        </p:txBody>
      </p:sp>
      <p:sp>
        <p:nvSpPr>
          <p:cNvPr id="15" name="vital RR"/>
          <p:cNvSpPr/>
          <p:nvPr/>
        </p:nvSpPr>
        <p:spPr>
          <a:xfrm>
            <a:off x="10015728" y="1783080"/>
            <a:ext cx="1624584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152888" y="1856232"/>
            <a:ext cx="1350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· /min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152888" y="2148840"/>
            <a:ext cx="1350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400" dirty="0"/>
          </a:p>
        </p:txBody>
      </p:sp>
      <p:sp>
        <p:nvSpPr>
          <p:cNvPr id="18" name="vital SpO₂"/>
          <p:cNvSpPr/>
          <p:nvPr/>
        </p:nvSpPr>
        <p:spPr>
          <a:xfrm>
            <a:off x="6492240" y="2788920"/>
            <a:ext cx="1624584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29400" y="2862072"/>
            <a:ext cx="1350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SpO₂ · RA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629400" y="3154680"/>
            <a:ext cx="1350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1400" dirty="0"/>
          </a:p>
        </p:txBody>
      </p:sp>
      <p:sp>
        <p:nvSpPr>
          <p:cNvPr id="21" name="ecg card"/>
          <p:cNvSpPr/>
          <p:nvPr/>
        </p:nvSpPr>
        <p:spPr>
          <a:xfrm>
            <a:off x="6492240" y="3886200"/>
            <a:ext cx="5148072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22" name="ecg icon circle"/>
          <p:cNvSpPr/>
          <p:nvPr/>
        </p:nvSpPr>
        <p:spPr>
          <a:xfrm>
            <a:off x="6675120" y="4069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ec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178808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26948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</a:t>
            </a:r>
            <a:endParaRPr lang="en-US" sz="1600" dirty="0"/>
          </a:p>
        </p:txBody>
      </p:sp>
      <p:sp>
        <p:nvSpPr>
          <p:cNvPr id="25" name="ecg findings"/>
          <p:cNvSpPr txBox="1"/>
          <p:nvPr/>
        </p:nvSpPr>
        <p:spPr>
          <a:xfrm>
            <a:off x="6675120" y="4663440"/>
            <a:ext cx="4782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mm ST elevation in V1–V6, I, aVL with reciprocal depression in II, III, aVF. Q waves developing in V1–V3.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anterior STEMI + cardiogenic shock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4 · Shock protocol, first 20 minutes</a:t>
            </a:r>
            <a:endParaRPr lang="en-US" sz="3400" dirty="0"/>
          </a:p>
        </p:txBody>
      </p:sp>
      <p:sp>
        <p:nvSpPr>
          <p:cNvPr id="3" name="timeline axis"/>
          <p:cNvSpPr/>
          <p:nvPr/>
        </p:nvSpPr>
        <p:spPr>
          <a:xfrm>
            <a:off x="1115568" y="1609344"/>
            <a:ext cx="0" cy="4200525"/>
          </a:xfrm>
          <a:prstGeom prst="line">
            <a:avLst/>
          </a:prstGeom>
          <a:noFill/>
          <a:ln w="25400">
            <a:solidFill>
              <a:srgbClr val="FBE3E7"/>
            </a:solidFill>
            <a:prstDash val="solid"/>
          </a:ln>
        </p:spPr>
      </p:sp>
      <p:sp>
        <p:nvSpPr>
          <p:cNvPr id="4" name="time badge 1"/>
          <p:cNvSpPr/>
          <p:nvPr/>
        </p:nvSpPr>
        <p:spPr>
          <a:xfrm>
            <a:off x="548640" y="141732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1200" dirty="0"/>
          </a:p>
        </p:txBody>
      </p:sp>
      <p:sp>
        <p:nvSpPr>
          <p:cNvPr id="6" name="step 1"/>
          <p:cNvSpPr txBox="1"/>
          <p:nvPr/>
        </p:nvSpPr>
        <p:spPr>
          <a:xfrm>
            <a:off x="1874520" y="1399032"/>
            <a:ext cx="553212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15 L/min non-rebreather → SpO₂ 90%; activate cath lab, ICU and shock team</a:t>
            </a:r>
            <a:endParaRPr lang="en-US" sz="1500" dirty="0"/>
          </a:p>
        </p:txBody>
      </p:sp>
      <p:sp>
        <p:nvSpPr>
          <p:cNvPr id="7" name="time badge 2"/>
          <p:cNvSpPr/>
          <p:nvPr/>
        </p:nvSpPr>
        <p:spPr>
          <a:xfrm>
            <a:off x="548640" y="2017395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017395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200" dirty="0"/>
          </a:p>
        </p:txBody>
      </p:sp>
      <p:sp>
        <p:nvSpPr>
          <p:cNvPr id="9" name="step 2"/>
          <p:cNvSpPr txBox="1"/>
          <p:nvPr/>
        </p:nvSpPr>
        <p:spPr>
          <a:xfrm>
            <a:off x="1874520" y="1999107"/>
            <a:ext cx="553212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 325 mg rectally (altered mental status)</a:t>
            </a:r>
            <a:endParaRPr lang="en-US" sz="1500" dirty="0"/>
          </a:p>
        </p:txBody>
      </p:sp>
      <p:sp>
        <p:nvSpPr>
          <p:cNvPr id="10" name="time badge 3"/>
          <p:cNvSpPr/>
          <p:nvPr/>
        </p:nvSpPr>
        <p:spPr>
          <a:xfrm>
            <a:off x="548640" y="261747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61747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200" dirty="0"/>
          </a:p>
        </p:txBody>
      </p:sp>
      <p:sp>
        <p:nvSpPr>
          <p:cNvPr id="12" name="step 3"/>
          <p:cNvSpPr txBox="1"/>
          <p:nvPr/>
        </p:nvSpPr>
        <p:spPr>
          <a:xfrm>
            <a:off x="1874520" y="2599182"/>
            <a:ext cx="553212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Norepinephrine 0.1 mcg/kg/min peripherally, titrate to MAP &gt; 65</a:t>
            </a:r>
            <a:endParaRPr lang="en-US" sz="1500" dirty="0"/>
          </a:p>
        </p:txBody>
      </p:sp>
      <p:sp>
        <p:nvSpPr>
          <p:cNvPr id="13" name="time badge 4"/>
          <p:cNvSpPr/>
          <p:nvPr/>
        </p:nvSpPr>
        <p:spPr>
          <a:xfrm>
            <a:off x="548640" y="3217545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217545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15" name="step 4"/>
          <p:cNvSpPr txBox="1"/>
          <p:nvPr/>
        </p:nvSpPr>
        <p:spPr>
          <a:xfrm>
            <a:off x="1874520" y="3199257"/>
            <a:ext cx="553212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Dobutamine 5 mcg/kg/min for low cardiac output</a:t>
            </a:r>
            <a:endParaRPr lang="en-US" sz="1500" dirty="0"/>
          </a:p>
        </p:txBody>
      </p:sp>
      <p:sp>
        <p:nvSpPr>
          <p:cNvPr id="16" name="time badge 5"/>
          <p:cNvSpPr/>
          <p:nvPr/>
        </p:nvSpPr>
        <p:spPr>
          <a:xfrm>
            <a:off x="548640" y="381762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8176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200" dirty="0"/>
          </a:p>
        </p:txBody>
      </p:sp>
      <p:sp>
        <p:nvSpPr>
          <p:cNvPr id="18" name="step 5"/>
          <p:cNvSpPr txBox="1"/>
          <p:nvPr/>
        </p:nvSpPr>
        <p:spPr>
          <a:xfrm>
            <a:off x="1874520" y="3799332"/>
            <a:ext cx="553212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Intubation: respiratory failure and airway for cath</a:t>
            </a:r>
            <a:endParaRPr lang="en-US" sz="1500" dirty="0"/>
          </a:p>
        </p:txBody>
      </p:sp>
      <p:sp>
        <p:nvSpPr>
          <p:cNvPr id="19" name="time badge 6"/>
          <p:cNvSpPr/>
          <p:nvPr/>
        </p:nvSpPr>
        <p:spPr>
          <a:xfrm>
            <a:off x="548640" y="4417695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417695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1" name="step 6"/>
          <p:cNvSpPr txBox="1"/>
          <p:nvPr/>
        </p:nvSpPr>
        <p:spPr>
          <a:xfrm>
            <a:off x="1874520" y="4399407"/>
            <a:ext cx="553212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 5000 U IV + ticagrelor 180 mg via NG tube</a:t>
            </a:r>
            <a:endParaRPr lang="en-US" sz="1500" dirty="0"/>
          </a:p>
        </p:txBody>
      </p:sp>
      <p:sp>
        <p:nvSpPr>
          <p:cNvPr id="22" name="time badge 7"/>
          <p:cNvSpPr/>
          <p:nvPr/>
        </p:nvSpPr>
        <p:spPr>
          <a:xfrm>
            <a:off x="548640" y="501777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01777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4" name="step 7"/>
          <p:cNvSpPr txBox="1"/>
          <p:nvPr/>
        </p:nvSpPr>
        <p:spPr>
          <a:xfrm>
            <a:off x="1874520" y="4999482"/>
            <a:ext cx="553212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Foley catheter: urine output goal &gt; 0.5 mL/kg/h</a:t>
            </a:r>
            <a:endParaRPr lang="en-US" sz="1500" dirty="0"/>
          </a:p>
        </p:txBody>
      </p:sp>
      <p:sp>
        <p:nvSpPr>
          <p:cNvPr id="25" name="time badge 8"/>
          <p:cNvSpPr/>
          <p:nvPr/>
        </p:nvSpPr>
        <p:spPr>
          <a:xfrm>
            <a:off x="548640" y="5617845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5617845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27" name="step 8"/>
          <p:cNvSpPr txBox="1"/>
          <p:nvPr/>
        </p:nvSpPr>
        <p:spPr>
          <a:xfrm>
            <a:off x="1874520" y="5599557"/>
            <a:ext cx="553212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Arterial line for continuous BP</a:t>
            </a:r>
            <a:endParaRPr lang="en-US" sz="1500" dirty="0"/>
          </a:p>
        </p:txBody>
      </p:sp>
      <p:sp>
        <p:nvSpPr>
          <p:cNvPr id="28" name="Avoid in shock"/>
          <p:cNvSpPr/>
          <p:nvPr/>
        </p:nvSpPr>
        <p:spPr>
          <a:xfrm>
            <a:off x="7726680" y="1417320"/>
            <a:ext cx="3913632" cy="4800600"/>
          </a:xfrm>
          <a:prstGeom prst="roundRect">
            <a:avLst>
              <a:gd name="adj" fmla="val 2804"/>
            </a:avLst>
          </a:prstGeom>
          <a:solidFill>
            <a:schemeClr val="accent6"/>
          </a:solidFill>
          <a:ln/>
        </p:spPr>
      </p:sp>
      <p:sp>
        <p:nvSpPr>
          <p:cNvPr id="29" name="Avoid in shock icon circle"/>
          <p:cNvSpPr/>
          <p:nvPr/>
        </p:nvSpPr>
        <p:spPr>
          <a:xfrm>
            <a:off x="7909560" y="158191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Avoid in shock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8315" y="1680667"/>
            <a:ext cx="213970" cy="21397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8458200" y="1581912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in shock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7909560" y="2103120"/>
            <a:ext cx="354787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Beta-blocker (negative inotropy)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Nitroglycerin (hypotension)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inhibitor initially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Morphine: vasodilation, use with care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IV fluids (pulmonary oedema)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4 · Cath lab, ICU and discharge</a:t>
            </a:r>
            <a:endParaRPr lang="en-US" sz="3400" dirty="0"/>
          </a:p>
        </p:txBody>
      </p:sp>
      <p:sp>
        <p:nvSpPr>
          <p:cNvPr id="3" name="stat Door-to-balloon"/>
          <p:cNvSpPr/>
          <p:nvPr/>
        </p:nvSpPr>
        <p:spPr>
          <a:xfrm>
            <a:off x="548640" y="1371600"/>
            <a:ext cx="351434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min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Door-to-balloon</a:t>
            </a:r>
            <a:endParaRPr lang="en-US" sz="1300" dirty="0"/>
          </a:p>
        </p:txBody>
      </p:sp>
      <p:sp>
        <p:nvSpPr>
          <p:cNvPr id="6" name="stat LVEF on echo, day 2"/>
          <p:cNvSpPr/>
          <p:nvPr/>
        </p:nvSpPr>
        <p:spPr>
          <a:xfrm>
            <a:off x="4337304" y="1371600"/>
            <a:ext cx="351434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65904" y="146304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65904" y="2194560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LVEF on echo, day 2</a:t>
            </a:r>
            <a:endParaRPr lang="en-US" sz="1300" dirty="0"/>
          </a:p>
        </p:txBody>
      </p:sp>
      <p:sp>
        <p:nvSpPr>
          <p:cNvPr id="9" name="stat Off pressors, IABP removed"/>
          <p:cNvSpPr/>
          <p:nvPr/>
        </p:nvSpPr>
        <p:spPr>
          <a:xfrm>
            <a:off x="8125968" y="1371600"/>
            <a:ext cx="351434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54568" y="146304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354568" y="2194560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pressors, IABP removed</a:t>
            </a:r>
            <a:endParaRPr lang="en-US" sz="1300" dirty="0"/>
          </a:p>
        </p:txBody>
      </p:sp>
      <p:sp>
        <p:nvSpPr>
          <p:cNvPr id="12" name="Cath lab &amp; ICU"/>
          <p:cNvSpPr/>
          <p:nvPr/>
        </p:nvSpPr>
        <p:spPr>
          <a:xfrm>
            <a:off x="548640" y="2971800"/>
            <a:ext cx="5408676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13" name="Cath lab &amp; ICU icon circle"/>
          <p:cNvSpPr/>
          <p:nvPr/>
        </p:nvSpPr>
        <p:spPr>
          <a:xfrm>
            <a:off x="777240" y="31546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Cath lab &amp; ICU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3264408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371600" y="3154680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 lab &amp; ICU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749040"/>
            <a:ext cx="49514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Culprit: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proximal LAD, heavy thrombus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LCx 80%; RCA stent patent (30% ISR)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 thrombectomy + DES to LAD + IABP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0–6: NE 0.15, dobutamine 7.5, MAP 68–72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Extubated day 2; step-down day 3</a:t>
            </a:r>
            <a:endParaRPr lang="en-US" sz="1400" dirty="0"/>
          </a:p>
        </p:txBody>
      </p:sp>
      <p:sp>
        <p:nvSpPr>
          <p:cNvPr id="17" name="Discharge (day 7)"/>
          <p:cNvSpPr/>
          <p:nvPr/>
        </p:nvSpPr>
        <p:spPr>
          <a:xfrm>
            <a:off x="6231636" y="2971800"/>
            <a:ext cx="5408676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/>
        </p:spPr>
      </p:sp>
      <p:sp>
        <p:nvSpPr>
          <p:cNvPr id="18" name="Discharge (day 7) outline"/>
          <p:cNvSpPr/>
          <p:nvPr/>
        </p:nvSpPr>
        <p:spPr>
          <a:xfrm>
            <a:off x="6231636" y="2971800"/>
            <a:ext cx="5408676" cy="3246120"/>
          </a:xfrm>
          <a:prstGeom prst="roundRect">
            <a:avLst>
              <a:gd name="adj" fmla="val 3380"/>
            </a:avLst>
          </a:prstGeom>
          <a:ln w="19050">
            <a:solidFill>
              <a:srgbClr val="F3F4F7"/>
            </a:solidFill>
            <a:prstDash val="solid"/>
          </a:ln>
        </p:spPr>
      </p:sp>
      <p:sp>
        <p:nvSpPr>
          <p:cNvPr id="19" name="Discharge (day 7) icon circle"/>
          <p:cNvSpPr/>
          <p:nvPr/>
        </p:nvSpPr>
        <p:spPr>
          <a:xfrm>
            <a:off x="6460236" y="31546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Discharge (day 7)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964" y="3264408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054596" y="3154680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(day 7)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6460236" y="3749040"/>
            <a:ext cx="49514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 + ticagrelor 90 mg BID; atorvastatin 80 mg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Metoprolol succinate 25 mg; lisinopril 5 mg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Spironolactone 25 mg; empagliflozin 10 mg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Furosemide 40 mg daily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defibrillator; echo at 6 weeks → ICD if LVEF ≤ 35%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4 · Key teaching points</a:t>
            </a:r>
            <a:endParaRPr lang="en-US" sz="3400" dirty="0"/>
          </a:p>
        </p:txBody>
      </p:sp>
      <p:sp>
        <p:nvSpPr>
          <p:cNvPr id="3" name="point 1"/>
          <p:cNvSpPr/>
          <p:nvPr/>
        </p:nvSpPr>
        <p:spPr>
          <a:xfrm>
            <a:off x="548640" y="1371600"/>
            <a:ext cx="351434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4" name="point icon 1 circle"/>
          <p:cNvSpPr/>
          <p:nvPr/>
        </p:nvSpPr>
        <p:spPr>
          <a:xfrm>
            <a:off x="749808" y="15727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point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82496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536192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shock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240280"/>
            <a:ext cx="3112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 &lt; 90 for &gt; 30 min, hypoperfusion, CI &lt; 2.2 L/min/m², PCWP &gt; 15 mmHg.</a:t>
            </a:r>
            <a:endParaRPr lang="en-US" sz="1600" dirty="0"/>
          </a:p>
        </p:txBody>
      </p:sp>
      <p:sp>
        <p:nvSpPr>
          <p:cNvPr id="8" name="point 2"/>
          <p:cNvSpPr/>
          <p:nvPr/>
        </p:nvSpPr>
        <p:spPr>
          <a:xfrm>
            <a:off x="4337304" y="1371600"/>
            <a:ext cx="3514344" cy="2286000"/>
          </a:xfrm>
          <a:prstGeom prst="roundRect">
            <a:avLst>
              <a:gd name="adj" fmla="val 4800"/>
            </a:avLst>
          </a:prstGeom>
          <a:solidFill>
            <a:schemeClr val="accent6"/>
          </a:solidFill>
          <a:ln/>
        </p:spPr>
      </p:sp>
      <p:sp>
        <p:nvSpPr>
          <p:cNvPr id="9" name="point icon 2 circle"/>
          <p:cNvSpPr/>
          <p:nvPr/>
        </p:nvSpPr>
        <p:spPr>
          <a:xfrm>
            <a:off x="4538472" y="15727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point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8249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14544" y="1536192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40–50%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38472" y="2240280"/>
            <a:ext cx="3112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treatment. Emergency revascularisation is the only definitive therapy.</a:t>
            </a:r>
            <a:endParaRPr lang="en-US" sz="1600" dirty="0"/>
          </a:p>
        </p:txBody>
      </p:sp>
      <p:sp>
        <p:nvSpPr>
          <p:cNvPr id="13" name="point 3"/>
          <p:cNvSpPr/>
          <p:nvPr/>
        </p:nvSpPr>
        <p:spPr>
          <a:xfrm>
            <a:off x="8125968" y="1371600"/>
            <a:ext cx="351434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4" name="point icon 3 circle"/>
          <p:cNvSpPr/>
          <p:nvPr/>
        </p:nvSpPr>
        <p:spPr>
          <a:xfrm>
            <a:off x="8327136" y="15727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point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864" y="168249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03208" y="1536192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Haemodynamic support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327136" y="2240280"/>
            <a:ext cx="3112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Norepinephrine first; add dobutamine (or milrinone) for low output; avoid fluid overload.</a:t>
            </a:r>
            <a:endParaRPr lang="en-US" sz="1600" dirty="0"/>
          </a:p>
        </p:txBody>
      </p:sp>
      <p:sp>
        <p:nvSpPr>
          <p:cNvPr id="18" name="point 4"/>
          <p:cNvSpPr/>
          <p:nvPr/>
        </p:nvSpPr>
        <p:spPr>
          <a:xfrm>
            <a:off x="548640" y="3931920"/>
            <a:ext cx="351434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9" name="point icon 4 circle"/>
          <p:cNvSpPr/>
          <p:nvPr/>
        </p:nvSpPr>
        <p:spPr>
          <a:xfrm>
            <a:off x="749808" y="413308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point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24281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4096512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support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49808" y="4800600"/>
            <a:ext cx="3112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IABP has no survival benefit; microaxial pump or VA-ECMO in selected refractory shock.</a:t>
            </a:r>
            <a:endParaRPr lang="en-US" sz="1600" dirty="0"/>
          </a:p>
        </p:txBody>
      </p:sp>
      <p:sp>
        <p:nvSpPr>
          <p:cNvPr id="23" name="point 5"/>
          <p:cNvSpPr/>
          <p:nvPr/>
        </p:nvSpPr>
        <p:spPr>
          <a:xfrm>
            <a:off x="4337304" y="3931920"/>
            <a:ext cx="3514344" cy="2286000"/>
          </a:xfrm>
          <a:prstGeom prst="roundRect">
            <a:avLst>
              <a:gd name="adj" fmla="val 4800"/>
            </a:avLst>
          </a:prstGeom>
          <a:solidFill>
            <a:schemeClr val="accent6"/>
          </a:solidFill>
          <a:ln/>
        </p:spPr>
      </p:sp>
      <p:sp>
        <p:nvSpPr>
          <p:cNvPr id="24" name="point icon 5 circle"/>
          <p:cNvSpPr/>
          <p:nvPr/>
        </p:nvSpPr>
        <p:spPr>
          <a:xfrm>
            <a:off x="4538472" y="41330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point icon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4242816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114544" y="4096512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to hold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538472" y="4800600"/>
            <a:ext cx="3112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beta-blocker, nitrates or ACE-I acutely; morphine with caution.</a:t>
            </a:r>
            <a:endParaRPr lang="en-US" sz="1600" dirty="0"/>
          </a:p>
        </p:txBody>
      </p:sp>
      <p:sp>
        <p:nvSpPr>
          <p:cNvPr id="28" name="point 6"/>
          <p:cNvSpPr/>
          <p:nvPr/>
        </p:nvSpPr>
        <p:spPr>
          <a:xfrm>
            <a:off x="8125968" y="3931920"/>
            <a:ext cx="351434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9" name="point icon 6 circle"/>
          <p:cNvSpPr/>
          <p:nvPr/>
        </p:nvSpPr>
        <p:spPr>
          <a:xfrm>
            <a:off x="8327136" y="413308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point icon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6864" y="4242816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903208" y="4096512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shock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327136" y="4800600"/>
            <a:ext cx="3112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sudden-death risk: wearable defibrillator, full GDMT, reassess LVEF, cardiac rehab.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number"/>
          <p:cNvSpPr txBox="1"/>
          <p:nvPr/>
        </p:nvSpPr>
        <p:spPr>
          <a:xfrm>
            <a:off x="731520" y="8229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STEMI at a rural hospital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86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55-year-old man · anterior STEMI · nearest PCI centre 2 hours away</a:t>
            </a:r>
            <a:endParaRPr lang="en-US" sz="2000" dirty="0"/>
          </a:p>
        </p:txBody>
      </p:sp>
      <p:sp>
        <p:nvSpPr>
          <p:cNvPr id="5" name="question band"/>
          <p:cNvSpPr/>
          <p:nvPr/>
        </p:nvSpPr>
        <p:spPr>
          <a:xfrm>
            <a:off x="731520" y="5074920"/>
            <a:ext cx="1069848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/>
        </p:spPr>
      </p:sp>
      <p:sp>
        <p:nvSpPr>
          <p:cNvPr id="6" name="question icon circle"/>
          <p:cNvSpPr/>
          <p:nvPr/>
        </p:nvSpPr>
        <p:spPr>
          <a:xfrm>
            <a:off x="914400" y="523036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ques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5362042"/>
            <a:ext cx="285293" cy="285293"/>
          </a:xfrm>
          <a:prstGeom prst="rect">
            <a:avLst/>
          </a:prstGeom>
        </p:spPr>
      </p:pic>
      <p:sp>
        <p:nvSpPr>
          <p:cNvPr id="8" name="discussion question"/>
          <p:cNvSpPr txBox="1"/>
          <p:nvPr/>
        </p:nvSpPr>
        <p:spPr>
          <a:xfrm>
            <a:off x="1645920" y="50749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began 90 minutes ago and transfer will take about 150 minutes. Transfer or lyse?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5 · Presentation</a:t>
            </a:r>
            <a:endParaRPr lang="en-US" sz="3400" dirty="0"/>
          </a:p>
        </p:txBody>
      </p:sp>
      <p:sp>
        <p:nvSpPr>
          <p:cNvPr id="3" name="patient card"/>
          <p:cNvSpPr/>
          <p:nvPr/>
        </p:nvSpPr>
        <p:spPr>
          <a:xfrm>
            <a:off x="548640" y="1371600"/>
            <a:ext cx="566928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/>
        </p:spPr>
      </p:sp>
      <p:sp>
        <p:nvSpPr>
          <p:cNvPr id="4" name="patient icon circle"/>
          <p:cNvSpPr/>
          <p:nvPr/>
        </p:nvSpPr>
        <p:spPr>
          <a:xfrm>
            <a:off x="777240" y="157276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atien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704442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727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55-year-old male, 85 kg</a:t>
            </a:r>
            <a:endParaRPr lang="en-US" sz="2000" dirty="0"/>
          </a:p>
        </p:txBody>
      </p:sp>
      <p:sp>
        <p:nvSpPr>
          <p:cNvPr id="7" name="history"/>
          <p:cNvSpPr txBox="1"/>
          <p:nvPr/>
        </p:nvSpPr>
        <p:spPr>
          <a:xfrm>
            <a:off x="777240" y="2286000"/>
            <a:ext cx="52120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“Worst chest pain of my life”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community hospital, no PCI capability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HPI: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Woke at 05:00 with severe substernal pain; EMS arrival 05:30; onset ~90 min before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PMH: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Poorly controlled HTN, hyperlipidaemia; father had MI at 50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1371600"/>
            <a:ext cx="5148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signs</a:t>
            </a:r>
            <a:endParaRPr lang="en-US" sz="1600" dirty="0"/>
          </a:p>
        </p:txBody>
      </p:sp>
      <p:sp>
        <p:nvSpPr>
          <p:cNvPr id="9" name="vital HR"/>
          <p:cNvSpPr/>
          <p:nvPr/>
        </p:nvSpPr>
        <p:spPr>
          <a:xfrm>
            <a:off x="6492240" y="1783080"/>
            <a:ext cx="1624584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629400" y="1856232"/>
            <a:ext cx="1350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· bpm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148840"/>
            <a:ext cx="1350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400" dirty="0"/>
          </a:p>
        </p:txBody>
      </p:sp>
      <p:sp>
        <p:nvSpPr>
          <p:cNvPr id="12" name="vital BP"/>
          <p:cNvSpPr/>
          <p:nvPr/>
        </p:nvSpPr>
        <p:spPr>
          <a:xfrm>
            <a:off x="8253984" y="1783080"/>
            <a:ext cx="1624584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391144" y="1856232"/>
            <a:ext cx="1350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· mmHg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391144" y="2148840"/>
            <a:ext cx="1350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142/86</a:t>
            </a:r>
            <a:endParaRPr lang="en-US" sz="1400" dirty="0"/>
          </a:p>
        </p:txBody>
      </p:sp>
      <p:sp>
        <p:nvSpPr>
          <p:cNvPr id="15" name="vital RR"/>
          <p:cNvSpPr/>
          <p:nvPr/>
        </p:nvSpPr>
        <p:spPr>
          <a:xfrm>
            <a:off x="10015728" y="1783080"/>
            <a:ext cx="1624584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152888" y="1856232"/>
            <a:ext cx="1350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· /min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152888" y="2148840"/>
            <a:ext cx="1350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18" name="vital SpO₂"/>
          <p:cNvSpPr/>
          <p:nvPr/>
        </p:nvSpPr>
        <p:spPr>
          <a:xfrm>
            <a:off x="6492240" y="2788920"/>
            <a:ext cx="1624584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29400" y="2862072"/>
            <a:ext cx="1350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SpO₂ · RA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629400" y="3154680"/>
            <a:ext cx="1350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400" dirty="0"/>
          </a:p>
        </p:txBody>
      </p:sp>
      <p:sp>
        <p:nvSpPr>
          <p:cNvPr id="21" name="ecg card"/>
          <p:cNvSpPr/>
          <p:nvPr/>
        </p:nvSpPr>
        <p:spPr>
          <a:xfrm>
            <a:off x="6492240" y="3886200"/>
            <a:ext cx="5148072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22" name="ecg icon circle"/>
          <p:cNvSpPr/>
          <p:nvPr/>
        </p:nvSpPr>
        <p:spPr>
          <a:xfrm>
            <a:off x="6675120" y="4069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ec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178808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26948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</a:t>
            </a:r>
            <a:endParaRPr lang="en-US" sz="1600" dirty="0"/>
          </a:p>
        </p:txBody>
      </p:sp>
      <p:sp>
        <p:nvSpPr>
          <p:cNvPr id="25" name="ecg findings"/>
          <p:cNvSpPr txBox="1"/>
          <p:nvPr/>
        </p:nvSpPr>
        <p:spPr>
          <a:xfrm>
            <a:off x="6675120" y="4663440"/>
            <a:ext cx="4782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mm ST elevation in V1–V4 with hyperacute T waves. No Q waves yet.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anterior STEMI, 1.5 h from onset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5 · Transfer or fibrinolysis?</a:t>
            </a:r>
            <a:endParaRPr lang="en-US" sz="3400" dirty="0"/>
          </a:p>
        </p:txBody>
      </p:sp>
      <p:sp>
        <p:nvSpPr>
          <p:cNvPr id="3" name="Transfer for primary PCI"/>
          <p:cNvSpPr/>
          <p:nvPr/>
        </p:nvSpPr>
        <p:spPr>
          <a:xfrm>
            <a:off x="548640" y="1371600"/>
            <a:ext cx="3514344" cy="3611880"/>
          </a:xfrm>
          <a:prstGeom prst="roundRect">
            <a:avLst>
              <a:gd name="adj" fmla="val 3122"/>
            </a:avLst>
          </a:prstGeom>
          <a:solidFill>
            <a:schemeClr val="bg2"/>
          </a:solidFill>
          <a:ln/>
        </p:spPr>
      </p:sp>
      <p:sp>
        <p:nvSpPr>
          <p:cNvPr id="4" name="Transfer for primary PCI icon circle"/>
          <p:cNvSpPr/>
          <p:nvPr/>
        </p:nvSpPr>
        <p:spPr>
          <a:xfrm>
            <a:off x="749808" y="155448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Transfer for primary PCI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642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554480"/>
            <a:ext cx="255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for primary PCI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194560"/>
            <a:ext cx="311200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PCI centre 90 miles away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h by ground (icy roads)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Helicopter grounded by weather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FMC-to-device: ~150 min</a:t>
            </a:r>
            <a:endParaRPr lang="en-US" sz="1400" dirty="0"/>
          </a:p>
        </p:txBody>
      </p:sp>
      <p:sp>
        <p:nvSpPr>
          <p:cNvPr id="8" name="Fibrinolysis indications"/>
          <p:cNvSpPr/>
          <p:nvPr/>
        </p:nvSpPr>
        <p:spPr>
          <a:xfrm>
            <a:off x="4337304" y="1371600"/>
            <a:ext cx="3514344" cy="3611880"/>
          </a:xfrm>
          <a:prstGeom prst="roundRect">
            <a:avLst>
              <a:gd name="adj" fmla="val 3122"/>
            </a:avLst>
          </a:prstGeom>
          <a:solidFill>
            <a:schemeClr val="bg2"/>
          </a:solidFill>
          <a:ln/>
        </p:spPr>
      </p:sp>
      <p:sp>
        <p:nvSpPr>
          <p:cNvPr id="9" name="Fibrinolysis indications icon circle"/>
          <p:cNvSpPr/>
          <p:nvPr/>
        </p:nvSpPr>
        <p:spPr>
          <a:xfrm>
            <a:off x="4538472" y="15544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Fibrinolysis indicatio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642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14544" y="1554480"/>
            <a:ext cx="255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Fibrinolysis indications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38472" y="2194560"/>
            <a:ext cx="311200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STEMI criteria met (V1–V4)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 90 min: &lt; 3 h, the best window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not possible within 120 min</a:t>
            </a:r>
            <a:endParaRPr lang="en-US" sz="1400" dirty="0"/>
          </a:p>
        </p:txBody>
      </p:sp>
      <p:sp>
        <p:nvSpPr>
          <p:cNvPr id="13" name="Absolute contraindications"/>
          <p:cNvSpPr/>
          <p:nvPr/>
        </p:nvSpPr>
        <p:spPr>
          <a:xfrm>
            <a:off x="8125968" y="1371600"/>
            <a:ext cx="3514344" cy="3611880"/>
          </a:xfrm>
          <a:prstGeom prst="roundRect">
            <a:avLst>
              <a:gd name="adj" fmla="val 3122"/>
            </a:avLst>
          </a:prstGeom>
          <a:solidFill>
            <a:schemeClr val="bg2"/>
          </a:solidFill>
          <a:ln/>
        </p:spPr>
      </p:sp>
      <p:sp>
        <p:nvSpPr>
          <p:cNvPr id="14" name="Absolute contraindications icon circle"/>
          <p:cNvSpPr/>
          <p:nvPr/>
        </p:nvSpPr>
        <p:spPr>
          <a:xfrm>
            <a:off x="8327136" y="15544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Absolute contraindication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864" y="166420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03208" y="1554480"/>
            <a:ext cx="255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contraindications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327136" y="2194560"/>
            <a:ext cx="311200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ICH: no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Ischaemic stroke &lt; 3 months: no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Intracranial neoplasm or AVM: no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head trauma: no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bleeding: no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Aortic dissection: no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HTN: no (142/86)</a:t>
            </a:r>
            <a:endParaRPr lang="en-US" sz="1400" dirty="0"/>
          </a:p>
        </p:txBody>
      </p:sp>
      <p:sp>
        <p:nvSpPr>
          <p:cNvPr id="18" name="decision band"/>
          <p:cNvSpPr/>
          <p:nvPr/>
        </p:nvSpPr>
        <p:spPr>
          <a:xfrm>
            <a:off x="548640" y="5257800"/>
            <a:ext cx="11091672" cy="96012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19" name="decision icon circle"/>
          <p:cNvSpPr/>
          <p:nvPr/>
        </p:nvSpPr>
        <p:spPr>
          <a:xfrm>
            <a:off x="777240" y="544068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decision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5583326"/>
            <a:ext cx="309067" cy="309067"/>
          </a:xfrm>
          <a:prstGeom prst="rect">
            <a:avLst/>
          </a:prstGeom>
        </p:spPr>
      </p:pic>
      <p:sp>
        <p:nvSpPr>
          <p:cNvPr id="21" name="decision"/>
          <p:cNvSpPr txBox="1"/>
          <p:nvPr/>
        </p:nvSpPr>
        <p:spPr>
          <a:xfrm>
            <a:off x="1600200" y="525780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fibrinolysis now.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&gt; 120 min away and presentation &lt; 3 h → tenecteplase, single bolus.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5 · Fibrinolysis protocol</a:t>
            </a:r>
            <a:endParaRPr lang="en-US" sz="3400" dirty="0"/>
          </a:p>
        </p:txBody>
      </p:sp>
      <p:sp>
        <p:nvSpPr>
          <p:cNvPr id="3" name="timeline axis"/>
          <p:cNvSpPr/>
          <p:nvPr/>
        </p:nvSpPr>
        <p:spPr>
          <a:xfrm>
            <a:off x="1115568" y="1609344"/>
            <a:ext cx="0" cy="3886200"/>
          </a:xfrm>
          <a:prstGeom prst="line">
            <a:avLst/>
          </a:prstGeom>
          <a:noFill/>
          <a:ln w="25400">
            <a:solidFill>
              <a:srgbClr val="FBE3E7"/>
            </a:solidFill>
            <a:prstDash val="solid"/>
          </a:ln>
        </p:spPr>
      </p:sp>
      <p:sp>
        <p:nvSpPr>
          <p:cNvPr id="4" name="time badge 1"/>
          <p:cNvSpPr/>
          <p:nvPr/>
        </p:nvSpPr>
        <p:spPr>
          <a:xfrm>
            <a:off x="548640" y="141732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05:45</a:t>
            </a:r>
            <a:endParaRPr lang="en-US" sz="1200" dirty="0"/>
          </a:p>
        </p:txBody>
      </p:sp>
      <p:sp>
        <p:nvSpPr>
          <p:cNvPr id="6" name="step 1"/>
          <p:cNvSpPr txBox="1"/>
          <p:nvPr/>
        </p:nvSpPr>
        <p:spPr>
          <a:xfrm>
            <a:off x="1874520" y="1399032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 325 mg + clopidogrel 300 mg (age &lt; 75) + atorvastatin 80 mg</a:t>
            </a:r>
            <a:endParaRPr lang="en-US" sz="1500" dirty="0"/>
          </a:p>
        </p:txBody>
      </p:sp>
      <p:sp>
        <p:nvSpPr>
          <p:cNvPr id="7" name="time badge 2"/>
          <p:cNvSpPr/>
          <p:nvPr/>
        </p:nvSpPr>
        <p:spPr>
          <a:xfrm>
            <a:off x="548640" y="219456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945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05:45</a:t>
            </a:r>
            <a:endParaRPr lang="en-US" sz="1200" dirty="0"/>
          </a:p>
        </p:txBody>
      </p:sp>
      <p:sp>
        <p:nvSpPr>
          <p:cNvPr id="9" name="step 2"/>
          <p:cNvSpPr txBox="1"/>
          <p:nvPr/>
        </p:nvSpPr>
        <p:spPr>
          <a:xfrm>
            <a:off x="1874520" y="2176272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Tenecteplase 45 mg single IV bolus (80–90 kg band)</a:t>
            </a:r>
            <a:endParaRPr lang="en-US" sz="1500" dirty="0"/>
          </a:p>
        </p:txBody>
      </p:sp>
      <p:sp>
        <p:nvSpPr>
          <p:cNvPr id="10" name="time badge 3"/>
          <p:cNvSpPr/>
          <p:nvPr/>
        </p:nvSpPr>
        <p:spPr>
          <a:xfrm>
            <a:off x="548640" y="297180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9718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05:45</a:t>
            </a:r>
            <a:endParaRPr lang="en-US" sz="1200" dirty="0"/>
          </a:p>
        </p:txBody>
      </p:sp>
      <p:sp>
        <p:nvSpPr>
          <p:cNvPr id="12" name="step 3"/>
          <p:cNvSpPr txBox="1"/>
          <p:nvPr/>
        </p:nvSpPr>
        <p:spPr>
          <a:xfrm>
            <a:off x="1874520" y="2953512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 60 U/kg bolus (max 4000 U), then 12 U/kg/h (max 1000 U/h)</a:t>
            </a:r>
            <a:endParaRPr lang="en-US" sz="1500" dirty="0"/>
          </a:p>
        </p:txBody>
      </p:sp>
      <p:sp>
        <p:nvSpPr>
          <p:cNvPr id="13" name="time badge 4"/>
          <p:cNvSpPr/>
          <p:nvPr/>
        </p:nvSpPr>
        <p:spPr>
          <a:xfrm>
            <a:off x="548640" y="374904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7490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06:05</a:t>
            </a:r>
            <a:endParaRPr lang="en-US" sz="1200" dirty="0"/>
          </a:p>
        </p:txBody>
      </p:sp>
      <p:sp>
        <p:nvSpPr>
          <p:cNvPr id="15" name="step 4"/>
          <p:cNvSpPr txBox="1"/>
          <p:nvPr/>
        </p:nvSpPr>
        <p:spPr>
          <a:xfrm>
            <a:off x="1874520" y="3730752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10 → 3/10; brief AIVR, a benign reperfusion rhythm</a:t>
            </a:r>
            <a:endParaRPr lang="en-US" sz="1500" dirty="0"/>
          </a:p>
        </p:txBody>
      </p:sp>
      <p:sp>
        <p:nvSpPr>
          <p:cNvPr id="16" name="time badge 5"/>
          <p:cNvSpPr/>
          <p:nvPr/>
        </p:nvSpPr>
        <p:spPr>
          <a:xfrm>
            <a:off x="548640" y="452628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262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06:30</a:t>
            </a:r>
            <a:endParaRPr lang="en-US" sz="1200" dirty="0"/>
          </a:p>
        </p:txBody>
      </p:sp>
      <p:sp>
        <p:nvSpPr>
          <p:cNvPr id="18" name="step 5"/>
          <p:cNvSpPr txBox="1"/>
          <p:nvPr/>
        </p:nvSpPr>
        <p:spPr>
          <a:xfrm>
            <a:off x="1874520" y="4507992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resolution 70%, pain 1/10: successful reperfusion</a:t>
            </a:r>
            <a:endParaRPr lang="en-US" sz="1500" dirty="0"/>
          </a:p>
        </p:txBody>
      </p:sp>
      <p:sp>
        <p:nvSpPr>
          <p:cNvPr id="19" name="time badge 6"/>
          <p:cNvSpPr/>
          <p:nvPr/>
        </p:nvSpPr>
        <p:spPr>
          <a:xfrm>
            <a:off x="548640" y="530352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3035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1200" dirty="0"/>
          </a:p>
        </p:txBody>
      </p:sp>
      <p:sp>
        <p:nvSpPr>
          <p:cNvPr id="21" name="step 6"/>
          <p:cNvSpPr txBox="1"/>
          <p:nvPr/>
        </p:nvSpPr>
        <p:spPr>
          <a:xfrm>
            <a:off x="1874520" y="5285232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Helicopter transfer for angiography (pharmaco-invasive strategy)</a:t>
            </a:r>
            <a:endParaRPr lang="en-US" sz="1500" dirty="0"/>
          </a:p>
        </p:txBody>
      </p:sp>
      <p:sp>
        <p:nvSpPr>
          <p:cNvPr id="22" name="Door-to-needle: 10 min"/>
          <p:cNvSpPr/>
          <p:nvPr/>
        </p:nvSpPr>
        <p:spPr>
          <a:xfrm>
            <a:off x="7726680" y="1417320"/>
            <a:ext cx="3913632" cy="1752600"/>
          </a:xfrm>
          <a:prstGeom prst="roundRect">
            <a:avLst>
              <a:gd name="adj" fmla="val 6261"/>
            </a:avLst>
          </a:prstGeom>
          <a:solidFill>
            <a:schemeClr val="bg2"/>
          </a:solidFill>
          <a:ln/>
        </p:spPr>
      </p:sp>
      <p:sp>
        <p:nvSpPr>
          <p:cNvPr id="23" name="Door-to-needle: 10 min icon circle"/>
          <p:cNvSpPr/>
          <p:nvPr/>
        </p:nvSpPr>
        <p:spPr>
          <a:xfrm>
            <a:off x="7909560" y="1581912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Door-to-needle: 10 mi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8315" y="1680667"/>
            <a:ext cx="213970" cy="21397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458200" y="1581912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Door-to-needle: 10 min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909560" y="2103120"/>
            <a:ext cx="3547872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&lt; 30 min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greatest in the first 3 h</a:t>
            </a:r>
            <a:endParaRPr lang="en-US" sz="1400" dirty="0"/>
          </a:p>
        </p:txBody>
      </p:sp>
      <p:sp>
        <p:nvSpPr>
          <p:cNvPr id="27" name="Signs of reperfusion"/>
          <p:cNvSpPr/>
          <p:nvPr/>
        </p:nvSpPr>
        <p:spPr>
          <a:xfrm>
            <a:off x="7726680" y="3398520"/>
            <a:ext cx="3913632" cy="2819400"/>
          </a:xfrm>
          <a:prstGeom prst="roundRect">
            <a:avLst>
              <a:gd name="adj" fmla="val 3892"/>
            </a:avLst>
          </a:prstGeom>
          <a:solidFill>
            <a:schemeClr val="bg2"/>
          </a:solidFill>
          <a:ln/>
        </p:spPr>
      </p:sp>
      <p:sp>
        <p:nvSpPr>
          <p:cNvPr id="28" name="Signs of reperfusion icon circle"/>
          <p:cNvSpPr/>
          <p:nvPr/>
        </p:nvSpPr>
        <p:spPr>
          <a:xfrm>
            <a:off x="7909560" y="3563112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Signs of reperfusio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315" y="3661867"/>
            <a:ext cx="213970" cy="21397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8458200" y="3563112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 reperfusion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7909560" y="4084320"/>
            <a:ext cx="3547872" cy="204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 resolves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resolution &gt; 50% at 60–90 min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Reperfusion arrhythmia (AIVR, PVCs)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troponin peak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5 · PCI centre and outcome</a:t>
            </a:r>
            <a:endParaRPr lang="en-US" sz="3400" dirty="0"/>
          </a:p>
        </p:txBody>
      </p:sp>
      <p:sp>
        <p:nvSpPr>
          <p:cNvPr id="3" name="stat Lysis to angiography"/>
          <p:cNvSpPr/>
          <p:nvPr/>
        </p:nvSpPr>
        <p:spPr>
          <a:xfrm>
            <a:off x="548640" y="1371600"/>
            <a:ext cx="351434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 h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Lysis to angiography</a:t>
            </a:r>
            <a:endParaRPr lang="en-US" sz="1300" dirty="0"/>
          </a:p>
        </p:txBody>
      </p:sp>
      <p:sp>
        <p:nvSpPr>
          <p:cNvPr id="6" name="stat LVEF on echo, day 2"/>
          <p:cNvSpPr/>
          <p:nvPr/>
        </p:nvSpPr>
        <p:spPr>
          <a:xfrm>
            <a:off x="4337304" y="1371600"/>
            <a:ext cx="351434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65904" y="146304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65904" y="2194560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LVEF on echo, day 2</a:t>
            </a:r>
            <a:endParaRPr lang="en-US" sz="1300" dirty="0"/>
          </a:p>
        </p:txBody>
      </p:sp>
      <p:sp>
        <p:nvSpPr>
          <p:cNvPr id="9" name="stat Discharged, no complications"/>
          <p:cNvSpPr/>
          <p:nvPr/>
        </p:nvSpPr>
        <p:spPr>
          <a:xfrm>
            <a:off x="8125968" y="1371600"/>
            <a:ext cx="351434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54568" y="146304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354568" y="2194560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Discharged, no complications</a:t>
            </a:r>
            <a:endParaRPr lang="en-US" sz="1300" dirty="0"/>
          </a:p>
        </p:txBody>
      </p:sp>
      <p:sp>
        <p:nvSpPr>
          <p:cNvPr id="12" name="Angiography &amp; PCI (10:30)"/>
          <p:cNvSpPr/>
          <p:nvPr/>
        </p:nvSpPr>
        <p:spPr>
          <a:xfrm>
            <a:off x="548640" y="2971800"/>
            <a:ext cx="5408676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13" name="Angiography &amp; PCI (10:30) icon circle"/>
          <p:cNvSpPr/>
          <p:nvPr/>
        </p:nvSpPr>
        <p:spPr>
          <a:xfrm>
            <a:off x="777240" y="31546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Angiography &amp; PCI (10:30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3264408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371600" y="3154680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Angiography &amp; PCI (10:30)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749040"/>
            <a:ext cx="49514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Culprit: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mid-LAD with TIMI 3 flow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residual thrombus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and LCx: mild disease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to mid-LAD; excellent result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troponin 45 ng/mL (day 1)</a:t>
            </a:r>
            <a:endParaRPr lang="en-US" sz="1400" dirty="0"/>
          </a:p>
        </p:txBody>
      </p:sp>
      <p:sp>
        <p:nvSpPr>
          <p:cNvPr id="17" name="Why it went well"/>
          <p:cNvSpPr/>
          <p:nvPr/>
        </p:nvSpPr>
        <p:spPr>
          <a:xfrm>
            <a:off x="6231636" y="2971800"/>
            <a:ext cx="5408676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/>
        </p:spPr>
      </p:sp>
      <p:sp>
        <p:nvSpPr>
          <p:cNvPr id="18" name="Why it went well outline"/>
          <p:cNvSpPr/>
          <p:nvPr/>
        </p:nvSpPr>
        <p:spPr>
          <a:xfrm>
            <a:off x="6231636" y="2971800"/>
            <a:ext cx="5408676" cy="3246120"/>
          </a:xfrm>
          <a:prstGeom prst="roundRect">
            <a:avLst>
              <a:gd name="adj" fmla="val 3380"/>
            </a:avLst>
          </a:prstGeom>
          <a:ln w="19050">
            <a:solidFill>
              <a:srgbClr val="F3F4F7"/>
            </a:solidFill>
            <a:prstDash val="solid"/>
          </a:ln>
        </p:spPr>
      </p:sp>
      <p:sp>
        <p:nvSpPr>
          <p:cNvPr id="19" name="Why it went well icon circle"/>
          <p:cNvSpPr/>
          <p:nvPr/>
        </p:nvSpPr>
        <p:spPr>
          <a:xfrm>
            <a:off x="6460236" y="31546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Why it went well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964" y="3264408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054596" y="3154680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went well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6460236" y="3749040"/>
            <a:ext cx="49514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presentation (&lt; 2 h)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Door-to-needle 10 min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reperfusion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transfer for PCI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LVEF preserved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5 · Key teaching points</a:t>
            </a:r>
            <a:endParaRPr lang="en-US" sz="3400" dirty="0"/>
          </a:p>
        </p:txBody>
      </p:sp>
      <p:sp>
        <p:nvSpPr>
          <p:cNvPr id="3" name="point 1"/>
          <p:cNvSpPr/>
          <p:nvPr/>
        </p:nvSpPr>
        <p:spPr>
          <a:xfrm>
            <a:off x="548640" y="1371600"/>
            <a:ext cx="351434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4" name="point icon 1 circle"/>
          <p:cNvSpPr/>
          <p:nvPr/>
        </p:nvSpPr>
        <p:spPr>
          <a:xfrm>
            <a:off x="749808" y="15727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point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82496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536192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lyse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240280"/>
            <a:ext cx="3112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not achievable within 120 min, onset &lt; 12 h (best &lt; 3 h), no contraindications.</a:t>
            </a:r>
            <a:endParaRPr lang="en-US" sz="1600" dirty="0"/>
          </a:p>
        </p:txBody>
      </p:sp>
      <p:sp>
        <p:nvSpPr>
          <p:cNvPr id="8" name="point 2"/>
          <p:cNvSpPr/>
          <p:nvPr/>
        </p:nvSpPr>
        <p:spPr>
          <a:xfrm>
            <a:off x="4337304" y="1371600"/>
            <a:ext cx="351434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9" name="point icon 2 circle"/>
          <p:cNvSpPr/>
          <p:nvPr/>
        </p:nvSpPr>
        <p:spPr>
          <a:xfrm>
            <a:off x="4538472" y="15727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point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8249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14544" y="1536192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Tenecteplase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38472" y="2240280"/>
            <a:ext cx="3112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weight-based bolus over 5 s; 45 mg for 80–90 kg; maximum 50 mg.</a:t>
            </a:r>
            <a:endParaRPr lang="en-US" sz="1600" dirty="0"/>
          </a:p>
        </p:txBody>
      </p:sp>
      <p:sp>
        <p:nvSpPr>
          <p:cNvPr id="13" name="point 3"/>
          <p:cNvSpPr/>
          <p:nvPr/>
        </p:nvSpPr>
        <p:spPr>
          <a:xfrm>
            <a:off x="8125968" y="1371600"/>
            <a:ext cx="351434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4" name="point icon 3 circle"/>
          <p:cNvSpPr/>
          <p:nvPr/>
        </p:nvSpPr>
        <p:spPr>
          <a:xfrm>
            <a:off x="8327136" y="15727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point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864" y="168249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03208" y="1536192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Pharmaco-invasive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327136" y="2240280"/>
            <a:ext cx="3112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Angiography 3–24 h after lysis for all; rescue PCI if &lt; 50% ST resolution or instability.</a:t>
            </a:r>
            <a:endParaRPr lang="en-US" sz="1600" dirty="0"/>
          </a:p>
        </p:txBody>
      </p:sp>
      <p:sp>
        <p:nvSpPr>
          <p:cNvPr id="18" name="point 4"/>
          <p:cNvSpPr/>
          <p:nvPr/>
        </p:nvSpPr>
        <p:spPr>
          <a:xfrm>
            <a:off x="548640" y="3931920"/>
            <a:ext cx="351434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9" name="point icon 4 circle"/>
          <p:cNvSpPr/>
          <p:nvPr/>
        </p:nvSpPr>
        <p:spPr>
          <a:xfrm>
            <a:off x="749808" y="413308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point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24281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4096512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Adjunct antiplatelet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49808" y="4800600"/>
            <a:ext cx="3112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Clopidogrel: 300 mg if age ≤ 75, 75 mg without load if &gt; 75. Not ticagrelor.</a:t>
            </a:r>
            <a:endParaRPr lang="en-US" sz="1600" dirty="0"/>
          </a:p>
        </p:txBody>
      </p:sp>
      <p:sp>
        <p:nvSpPr>
          <p:cNvPr id="23" name="point 5"/>
          <p:cNvSpPr/>
          <p:nvPr/>
        </p:nvSpPr>
        <p:spPr>
          <a:xfrm>
            <a:off x="4337304" y="3931920"/>
            <a:ext cx="351434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4" name="point icon 5 circle"/>
          <p:cNvSpPr/>
          <p:nvPr/>
        </p:nvSpPr>
        <p:spPr>
          <a:xfrm>
            <a:off x="4538472" y="413308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point icon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4242816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114544" y="4096512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Anticoagulation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538472" y="4800600"/>
            <a:ext cx="3112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 60 U/kg (max 4000 U), aPTT 50–70 s, for 48 h or until PCI; enoxaparin an alternative.</a:t>
            </a:r>
            <a:endParaRPr lang="en-US" sz="1600" dirty="0"/>
          </a:p>
        </p:txBody>
      </p:sp>
      <p:sp>
        <p:nvSpPr>
          <p:cNvPr id="28" name="point 6"/>
          <p:cNvSpPr/>
          <p:nvPr/>
        </p:nvSpPr>
        <p:spPr>
          <a:xfrm>
            <a:off x="8125968" y="3931920"/>
            <a:ext cx="3514344" cy="2286000"/>
          </a:xfrm>
          <a:prstGeom prst="roundRect">
            <a:avLst>
              <a:gd name="adj" fmla="val 4800"/>
            </a:avLst>
          </a:prstGeom>
          <a:solidFill>
            <a:schemeClr val="accent6"/>
          </a:solidFill>
          <a:ln/>
        </p:spPr>
      </p:sp>
      <p:sp>
        <p:nvSpPr>
          <p:cNvPr id="29" name="point icon 6 circle"/>
          <p:cNvSpPr/>
          <p:nvPr/>
        </p:nvSpPr>
        <p:spPr>
          <a:xfrm>
            <a:off x="8327136" y="41330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point icon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6864" y="4242816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903208" y="4096512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327136" y="4800600"/>
            <a:ext cx="3112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troponin, lyse when PCI is &lt; 120 min away, or skip angiography after success.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 comparison</a:t>
            </a:r>
            <a:endParaRPr lang="en-US" sz="3400" dirty="0"/>
          </a:p>
        </p:txBody>
      </p:sp>
      <p:graphicFrame>
        <p:nvGraphicFramePr>
          <p:cNvPr id="30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377440"/>
                <a:gridCol w="2514600"/>
                <a:gridCol w="2286000"/>
                <a:gridCol w="267919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Reperfusion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P2Y₁₂ inhibitor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pitfall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62M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Inferior STEMI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PCI, D2B 30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Ticagrelor 180 mg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Nitrates before excluding RV infarct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78F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high-risk NSTEMI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Invasive &lt; 2 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Clopidogrel 300 mg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Prasugrel after stroke; LMWH with eGFR &lt; 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35M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Cocaine-associated STEMI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 after benzo + NTG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 until anatomy, then ticagrelor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Beta-blocker in the acute phase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71M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Anterior STEMI + shock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PCI + MCS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Ticagrelor 180 mg via 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Nitrates, beta-blocker or fluids in shock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55M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Anterior STEMI, rural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Tenecteplase → PCI ~5 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Clopidogrel 300 mg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Ticagrelor with lysis; skipping angiography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that hold in every case</a:t>
            </a:r>
            <a:endParaRPr lang="en-US" sz="3400" dirty="0"/>
          </a:p>
        </p:txBody>
      </p:sp>
      <p:sp>
        <p:nvSpPr>
          <p:cNvPr id="3" name="principle 1"/>
          <p:cNvSpPr/>
          <p:nvPr/>
        </p:nvSpPr>
        <p:spPr>
          <a:xfrm>
            <a:off x="548640" y="1645920"/>
            <a:ext cx="2567178" cy="4206240"/>
          </a:xfrm>
          <a:prstGeom prst="roundRect">
            <a:avLst>
              <a:gd name="adj" fmla="val 4274"/>
            </a:avLst>
          </a:prstGeom>
          <a:solidFill>
            <a:schemeClr val="accent2"/>
          </a:solidFill>
          <a:ln/>
        </p:spPr>
      </p:sp>
      <p:sp>
        <p:nvSpPr>
          <p:cNvPr id="4" name="principle icon 1 circle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rinciple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09580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880360"/>
            <a:ext cx="201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ECG in 10 minutes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49040"/>
            <a:ext cx="2018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chest pain or equivalent gets an ECG within 10 min of arrival.</a:t>
            </a:r>
            <a:endParaRPr lang="en-US" sz="1500" dirty="0"/>
          </a:p>
        </p:txBody>
      </p:sp>
      <p:sp>
        <p:nvSpPr>
          <p:cNvPr id="8" name="principle 2"/>
          <p:cNvSpPr/>
          <p:nvPr/>
        </p:nvSpPr>
        <p:spPr>
          <a:xfrm>
            <a:off x="3390138" y="1645920"/>
            <a:ext cx="2567178" cy="4206240"/>
          </a:xfrm>
          <a:prstGeom prst="roundRect">
            <a:avLst>
              <a:gd name="adj" fmla="val 4274"/>
            </a:avLst>
          </a:prstGeom>
          <a:solidFill>
            <a:schemeClr val="accent2"/>
          </a:solidFill>
          <a:ln/>
        </p:spPr>
      </p:sp>
      <p:sp>
        <p:nvSpPr>
          <p:cNvPr id="9" name="principle icon 2 circle"/>
          <p:cNvSpPr/>
          <p:nvPr/>
        </p:nvSpPr>
        <p:spPr>
          <a:xfrm>
            <a:off x="3664458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principle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023" y="209580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4458" y="2880360"/>
            <a:ext cx="201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is muscle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664458" y="3749040"/>
            <a:ext cx="2018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Door-to-balloon &lt; 90 min; door-to-needle &lt; 30 min when PCI is &gt; 120 min away.</a:t>
            </a:r>
            <a:endParaRPr lang="en-US" sz="1500" dirty="0"/>
          </a:p>
        </p:txBody>
      </p:sp>
      <p:sp>
        <p:nvSpPr>
          <p:cNvPr id="13" name="principle 3"/>
          <p:cNvSpPr/>
          <p:nvPr/>
        </p:nvSpPr>
        <p:spPr>
          <a:xfrm>
            <a:off x="6231636" y="1645920"/>
            <a:ext cx="2567178" cy="4206240"/>
          </a:xfrm>
          <a:prstGeom prst="roundRect">
            <a:avLst>
              <a:gd name="adj" fmla="val 4274"/>
            </a:avLst>
          </a:prstGeom>
          <a:solidFill>
            <a:schemeClr val="accent2"/>
          </a:solidFill>
          <a:ln/>
        </p:spPr>
      </p:sp>
      <p:sp>
        <p:nvSpPr>
          <p:cNvPr id="14" name="principle icon 3 circle"/>
          <p:cNvSpPr/>
          <p:nvPr/>
        </p:nvSpPr>
        <p:spPr>
          <a:xfrm>
            <a:off x="6505956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principle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521" y="209580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5956" y="2880360"/>
            <a:ext cx="201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the patient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505956" y="3749040"/>
            <a:ext cx="2018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kidneys, prior stroke, drugs and shock change every dose.</a:t>
            </a:r>
            <a:endParaRPr lang="en-US" sz="1500" dirty="0"/>
          </a:p>
        </p:txBody>
      </p:sp>
      <p:sp>
        <p:nvSpPr>
          <p:cNvPr id="18" name="principle 4"/>
          <p:cNvSpPr/>
          <p:nvPr/>
        </p:nvSpPr>
        <p:spPr>
          <a:xfrm>
            <a:off x="9073134" y="1645920"/>
            <a:ext cx="2567178" cy="4206240"/>
          </a:xfrm>
          <a:prstGeom prst="roundRect">
            <a:avLst>
              <a:gd name="adj" fmla="val 4274"/>
            </a:avLst>
          </a:prstGeom>
          <a:solidFill>
            <a:schemeClr val="accent2"/>
          </a:solidFill>
          <a:ln/>
        </p:spPr>
      </p:sp>
      <p:sp>
        <p:nvSpPr>
          <p:cNvPr id="19" name="principle icon 4 circle"/>
          <p:cNvSpPr/>
          <p:nvPr/>
        </p:nvSpPr>
        <p:spPr>
          <a:xfrm>
            <a:off x="9347454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principle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3019" y="2095805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7454" y="2880360"/>
            <a:ext cx="201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 the job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9347454" y="3749040"/>
            <a:ext cx="2018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DAPT, high-intensity statin, GDMT, rehab and risk-factor control at discharge.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S Cases">
  <a:themeElements>
    <a:clrScheme name="ACS Cases">
      <a:dk1>
        <a:srgbClr val="1F2430"/>
      </a:dk1>
      <a:lt1>
        <a:srgbClr val="FFFFFF"/>
      </a:lt1>
      <a:dk2>
        <a:srgbClr val="5C0A16"/>
      </a:dk2>
      <a:lt2>
        <a:srgbClr val="F3F4F7"/>
      </a:lt2>
      <a:accent1>
        <a:srgbClr val="B3122E"/>
      </a:accent1>
      <a:accent2>
        <a:srgbClr val="2E3A59"/>
      </a:accent2>
      <a:accent3>
        <a:srgbClr val="D98E1F"/>
      </a:accent3>
      <a:accent4>
        <a:srgbClr val="2F8F6B"/>
      </a:accent4>
      <a:accent5>
        <a:srgbClr val="6B7280"/>
      </a:accent5>
      <a:accent6>
        <a:srgbClr val="FBE3E7"/>
      </a:accent6>
      <a:hlink>
        <a:srgbClr val="B3122E"/>
      </a:hlink>
      <a:folHlink>
        <a:srgbClr val="6D2E46"/>
      </a:folHlink>
    </a:clrScheme>
    <a:fontScheme name="ACS Cas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ACS in the Emergency Department: Five Real Cases</dc:title>
  <dc:subject>PptxGenJS Presentation</dc:subject>
  <dc:creator>Dr. Ahmed Elshewi</dc:creator>
  <cp:lastModifiedBy>Dr. Ahmed Elshewi</cp:lastModifiedBy>
  <cp:revision>1</cp:revision>
  <dcterms:created xsi:type="dcterms:W3CDTF">2026-10-12T02:58:39Z</dcterms:created>
  <dcterms:modified xsi:type="dcterms:W3CDTF">2026-10-12T02:58:39Z</dcterms:modified>
</cp:coreProperties>
</file>